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4"/>
  </p:sldMasterIdLst>
  <p:notesMasterIdLst>
    <p:notesMasterId r:id="rId19"/>
  </p:notesMasterIdLst>
  <p:handoutMasterIdLst>
    <p:handoutMasterId r:id="rId20"/>
  </p:handoutMasterIdLst>
  <p:sldIdLst>
    <p:sldId id="442" r:id="rId5"/>
    <p:sldId id="445" r:id="rId6"/>
    <p:sldId id="443" r:id="rId7"/>
    <p:sldId id="451" r:id="rId8"/>
    <p:sldId id="444" r:id="rId9"/>
    <p:sldId id="452" r:id="rId10"/>
    <p:sldId id="449" r:id="rId11"/>
    <p:sldId id="448" r:id="rId12"/>
    <p:sldId id="453" r:id="rId13"/>
    <p:sldId id="455" r:id="rId14"/>
    <p:sldId id="462" r:id="rId15"/>
    <p:sldId id="463" r:id="rId16"/>
    <p:sldId id="460" r:id="rId17"/>
    <p:sldId id="461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DACFC"/>
    <a:srgbClr val="09090C"/>
    <a:srgbClr val="FFFFFF"/>
    <a:srgbClr val="000000"/>
    <a:srgbClr val="9B8C69"/>
    <a:srgbClr val="79958B"/>
    <a:srgbClr val="476262"/>
    <a:srgbClr val="272D2B"/>
    <a:srgbClr val="647E6B"/>
    <a:srgbClr val="A27C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6C345E-C2D1-4548-93C0-E1F84274B686}" v="56" dt="2026-04-19T19:45:19.554"/>
    <p1510:client id="{C6687E18-8C92-6029-42EA-140B99E2F6A7}" v="148" dt="2026-04-19T18:39:48.9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6068" autoAdjust="0"/>
  </p:normalViewPr>
  <p:slideViewPr>
    <p:cSldViewPr snapToGrid="0">
      <p:cViewPr varScale="1">
        <p:scale>
          <a:sx n="84" d="100"/>
          <a:sy n="84" d="100"/>
        </p:scale>
        <p:origin x="1596" y="78"/>
      </p:cViewPr>
      <p:guideLst>
        <p:guide orient="horz" pos="2160"/>
        <p:guide pos="38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18B6240-78DA-093E-542D-EA8232A5226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F21978-CD08-4DE4-0B35-D8E00EB982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1042AC-E7EB-4533-80AB-C3850196CED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733651-3489-31BD-ED31-0609855FBC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61A6A1-1395-B89B-42E0-2208966D9FB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D1E2F7-14E3-4821-A409-B7BC1E27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606211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863BC9-3C98-4AB2-8802-02853E289FB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2E5B5A-C175-4C17-879C-A25F50F47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428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E5B5A-C175-4C17-879C-A25F50F472D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3901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2E5B5A-C175-4C17-879C-A25F50F472D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525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359139-99F8-4B6E-8834-95F2B9D91EE4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660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BE14B8-5058-4271-B378-2217DE83796E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47129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79FB602-DB7A-4B0E-854D-FB51F38BB0AA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871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35E5011-9B67-D528-E120-F5ABBF8FE5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25" r="1082" b="9618"/>
          <a:stretch>
            <a:fillRect/>
          </a:stretch>
        </p:blipFill>
        <p:spPr>
          <a:xfrm>
            <a:off x="-13716" y="0"/>
            <a:ext cx="12205716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C9965342-2954-67DF-2693-F39C0B9F8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426598"/>
            <a:ext cx="9942409" cy="671387"/>
          </a:xfrm>
        </p:spPr>
        <p:txBody>
          <a:bodyPr/>
          <a:lstStyle>
            <a:lvl1pPr>
              <a:defRPr sz="4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FEB4B13F-216B-09EA-9E05-12FBA70B82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3413" y="1097985"/>
            <a:ext cx="3704199" cy="1035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8793" y="6357493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36185" y="6357493"/>
            <a:ext cx="225864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72F7A5-01BF-4366-9757-1F523CD5236A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6357493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954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object&#10;&#10;AI-generated content may be incorrect.">
            <a:extLst>
              <a:ext uri="{FF2B5EF4-FFF2-40B4-BE49-F238E27FC236}">
                <a16:creationId xmlns:a16="http://schemas.microsoft.com/office/drawing/2014/main" id="{056372A1-E778-B10F-98CF-995841167A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84" t="9400" r="1623" b="307"/>
          <a:stretch>
            <a:fillRect/>
          </a:stretch>
        </p:blipFill>
        <p:spPr>
          <a:xfrm>
            <a:off x="0" y="875"/>
            <a:ext cx="12192000" cy="6857125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7D2650CC-89A0-A174-E856-05805DBC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356684"/>
            <a:ext cx="6346974" cy="2667527"/>
          </a:xfrm>
        </p:spPr>
        <p:txBody>
          <a:bodyPr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1E66F2C5-A94C-40FD-0A7D-A7D695991E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3414" y="5266344"/>
            <a:ext cx="3291920" cy="982055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22117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22117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79FB602-DB7A-4B0E-854D-FB51F38BB0AA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526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red and purple light&#10;&#10;AI-generated content may be incorrect.">
            <a:extLst>
              <a:ext uri="{FF2B5EF4-FFF2-40B4-BE49-F238E27FC236}">
                <a16:creationId xmlns:a16="http://schemas.microsoft.com/office/drawing/2014/main" id="{34DC879D-8888-CA20-363B-ADD601ABDB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9" t="34949" r="912"/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3491" y="2122471"/>
            <a:ext cx="7348909" cy="167264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16399" y="2122470"/>
            <a:ext cx="2052235" cy="167264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2284" y="233990"/>
            <a:ext cx="257868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6573"/>
            <a:ext cx="15621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192309C-B050-4356-96E7-0276C1563BD7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400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86116429-CFD9-2016-C240-A97B232DE4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11" t="2700" r="25757" b="19631"/>
          <a:stretch>
            <a:fillRect/>
          </a:stretch>
        </p:blipFill>
        <p:spPr>
          <a:xfrm rot="10800000" flipH="1">
            <a:off x="0" y="-1713"/>
            <a:ext cx="12205716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693" y="2705100"/>
            <a:ext cx="11562393" cy="41529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11500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3135" y="564350"/>
            <a:ext cx="3645744" cy="905862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9462" y="197680"/>
            <a:ext cx="256177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706100" y="209088"/>
            <a:ext cx="102298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FFF4B2E-F868-48E9-9355-A1AA601AAA8B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0311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  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6AD7145-734D-256B-1335-1014B6A32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952" cy="3429000"/>
          </a:xfrm>
          <a:gradFill>
            <a:gsLst>
              <a:gs pos="55000">
                <a:srgbClr val="000000">
                  <a:alpha val="53000"/>
                </a:srgbClr>
              </a:gs>
              <a:gs pos="87000">
                <a:srgbClr val="000000">
                  <a:alpha val="63922"/>
                </a:srgbClr>
              </a:gs>
              <a:gs pos="23000">
                <a:srgbClr val="000000">
                  <a:alpha val="0"/>
                </a:srgbClr>
              </a:gs>
            </a:gsLst>
            <a:lin ang="15900000" scaled="0"/>
          </a:gradFill>
        </p:spPr>
        <p:txBody>
          <a:bodyPr lIns="457200" tIns="685800" rIns="5029200" bIns="0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5C312AD0-A2D2-0388-F1F0-E17A9F7893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4192" y="-1"/>
            <a:ext cx="3740652" cy="3050627"/>
          </a:xfrm>
        </p:spPr>
        <p:txBody>
          <a:bodyPr vert="horz" lIns="594360" tIns="685800" rIns="320040" bIns="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19100" y="220344"/>
            <a:ext cx="255270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10065" y="219456"/>
            <a:ext cx="190500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560963-1EEA-4BDE-8FF9-3FEE13B5D43C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288609" y="215988"/>
            <a:ext cx="555948" cy="33719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0230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 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EDC0447-22FD-BF05-BC68-3FDEDEDFC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5323784" cy="6858000"/>
          </a:xfrm>
          <a:gradFill>
            <a:gsLst>
              <a:gs pos="41000">
                <a:srgbClr val="000000">
                  <a:alpha val="46000"/>
                </a:srgbClr>
              </a:gs>
              <a:gs pos="71000">
                <a:srgbClr val="000000">
                  <a:alpha val="58000"/>
                </a:srgbClr>
              </a:gs>
              <a:gs pos="100000">
                <a:srgbClr val="000000">
                  <a:alpha val="61000"/>
                </a:srgbClr>
              </a:gs>
              <a:gs pos="10000">
                <a:srgbClr val="000000">
                  <a:alpha val="0"/>
                </a:srgbClr>
              </a:gs>
            </a:gsLst>
            <a:lin ang="10800000" scaled="0"/>
          </a:gradFill>
        </p:spPr>
        <p:txBody>
          <a:bodyPr lIns="457200" tIns="1371600" rIns="822960" bIns="91440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A1999F2-A538-F369-DF48-BB68DFFF8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9099" y="6032498"/>
            <a:ext cx="4419599" cy="579757"/>
          </a:xfrm>
        </p:spPr>
        <p:txBody>
          <a:bodyPr vert="horz" lIns="91440" tIns="0" rIns="91440" bIns="0" rtlCol="0" anchor="t">
            <a:normAutofit/>
          </a:bodyPr>
          <a:lstStyle>
            <a:lvl1pPr marL="0" indent="0">
              <a:lnSpc>
                <a:spcPct val="120000"/>
              </a:lnSpc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19100" y="220344"/>
            <a:ext cx="255270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01100" y="213072"/>
            <a:ext cx="190500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560963-1EEA-4BDE-8FF9-3FEE13B5D43C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5988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700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560963-1EEA-4BDE-8FF9-3FEE13B5D43C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3869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4643" y="1114447"/>
            <a:ext cx="5442757" cy="292152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5468" y="4993008"/>
            <a:ext cx="3972704" cy="124799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2605" y="215057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5989" y="215057"/>
            <a:ext cx="153706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28EA85A9-CA9F-4339-89EF-28F09ED3FE86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1909" y="215057"/>
            <a:ext cx="540412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8C1F583-2497-2836-36DF-2076DFFFBA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83830" y="1181100"/>
            <a:ext cx="4408170" cy="5701208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7442595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812872" y="1115568"/>
            <a:ext cx="2960028" cy="368476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4423" y="5004262"/>
            <a:ext cx="2968477" cy="124413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597858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12872" y="219456"/>
            <a:ext cx="1550328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2D904F51-6E72-42BA-AFA1-975939F2ADF3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3129" y="219456"/>
            <a:ext cx="539588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84B0817-C121-ACE0-AD00-44CE3924177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1181099"/>
            <a:ext cx="8367452" cy="5685213"/>
          </a:xfrm>
          <a:custGeom>
            <a:avLst/>
            <a:gdLst>
              <a:gd name="connsiteX0" fmla="*/ 0 w 6769976"/>
              <a:gd name="connsiteY0" fmla="*/ 0 h 5895164"/>
              <a:gd name="connsiteX1" fmla="*/ 6769976 w 6769976"/>
              <a:gd name="connsiteY1" fmla="*/ 0 h 5895164"/>
              <a:gd name="connsiteX2" fmla="*/ 6769976 w 6769976"/>
              <a:gd name="connsiteY2" fmla="*/ 5895164 h 5895164"/>
              <a:gd name="connsiteX3" fmla="*/ 0 w 6769976"/>
              <a:gd name="connsiteY3" fmla="*/ 5895164 h 5895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69976" h="5895164">
                <a:moveTo>
                  <a:pt x="0" y="0"/>
                </a:moveTo>
                <a:lnTo>
                  <a:pt x="6769976" y="0"/>
                </a:lnTo>
                <a:lnTo>
                  <a:pt x="6769976" y="5895164"/>
                </a:lnTo>
                <a:lnTo>
                  <a:pt x="0" y="5895164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4302621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6903" y="4822407"/>
            <a:ext cx="6925432" cy="135134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3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35224" y="4822406"/>
            <a:ext cx="2724238" cy="1351342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78C40B5-A026-132B-C915-2335F94E4A5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866900" y="0"/>
            <a:ext cx="10325100" cy="4653649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76903" y="6447496"/>
            <a:ext cx="214036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224" y="6451888"/>
            <a:ext cx="1581238" cy="338328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  <a:effectLst/>
              </a:defRPr>
            </a:lvl1pPr>
          </a:lstStyle>
          <a:p>
            <a:fld id="{096358FC-80A5-41A4-8D07-88F12E18DF82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0357" y="6451888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4020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1006E0F-42A5-451E-8A36-26756F7C34E0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0513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ose up of a pink and purple light&#10;&#10;AI-generated content may be incorrect.">
            <a:extLst>
              <a:ext uri="{FF2B5EF4-FFF2-40B4-BE49-F238E27FC236}">
                <a16:creationId xmlns:a16="http://schemas.microsoft.com/office/drawing/2014/main" id="{B984133B-2ACD-DC2E-DD48-CC86F40637D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6416" y="219456"/>
            <a:ext cx="1494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1006E0F-42A5-451E-8A36-26756F7C34E0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3439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922ABD-C052-4D3A-818B-C58AFC20B321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513389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8AD56A61-7CC3-3597-02EB-CC5DE117DB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58" t="8959" r="915" b="25228"/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7" y="915709"/>
            <a:ext cx="11404534" cy="1604654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922ABD-C052-4D3A-818B-C58AFC20B321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72400" y="2705100"/>
            <a:ext cx="4000500" cy="3682028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87234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48FC9B1-6F61-4A8F-9F5E-715654075A93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870317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colorful object&#10;&#10;AI-generated content may be incorrect.">
            <a:extLst>
              <a:ext uri="{FF2B5EF4-FFF2-40B4-BE49-F238E27FC236}">
                <a16:creationId xmlns:a16="http://schemas.microsoft.com/office/drawing/2014/main" id="{BA44554C-C893-3987-6CAA-1AE3D3275A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88" r="1" b="13701"/>
          <a:stretch>
            <a:fillRect/>
          </a:stretch>
        </p:blipFill>
        <p:spPr>
          <a:xfrm rot="5400000" flipV="1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1762539"/>
            <a:ext cx="3987207" cy="2073091"/>
          </a:xfrm>
        </p:spPr>
        <p:txBody>
          <a:bodyPr anchor="t">
            <a:normAutofit/>
          </a:bodyPr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51993" y="214858"/>
            <a:ext cx="15227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034B68-E20D-4A56-8B99-0EF3081FA97A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51993" y="1762539"/>
            <a:ext cx="3482340" cy="207309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1"/>
                </a:solidFill>
              </a:defRPr>
            </a:lvl1pPr>
            <a:lvl2pPr marL="228600" indent="0">
              <a:buNone/>
              <a:defRPr lang="en-US" dirty="0">
                <a:solidFill>
                  <a:schemeClr val="tx1"/>
                </a:solidFill>
              </a:defRPr>
            </a:lvl2pPr>
            <a:lvl3pPr marL="457200" indent="0">
              <a:buNone/>
              <a:defRPr lang="en-US" dirty="0">
                <a:solidFill>
                  <a:schemeClr val="tx1"/>
                </a:solidFill>
              </a:defRPr>
            </a:lvl3pPr>
            <a:lvl4pPr marL="685800" indent="0">
              <a:buNone/>
              <a:defRPr lang="en-US" dirty="0">
                <a:solidFill>
                  <a:schemeClr val="tx1"/>
                </a:solidFill>
              </a:defRPr>
            </a:lvl4pPr>
            <a:lvl5pPr marL="914400" indent="0">
              <a:buNone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801589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ose up of a colorful object&#10;&#10;AI-generated content may be incorrect.">
            <a:extLst>
              <a:ext uri="{FF2B5EF4-FFF2-40B4-BE49-F238E27FC236}">
                <a16:creationId xmlns:a16="http://schemas.microsoft.com/office/drawing/2014/main" id="{B193FB30-082C-50CD-EEC9-7D410FFB62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8257" t="5088" r="86" b="21926"/>
          <a:stretch>
            <a:fillRect/>
          </a:stretch>
        </p:blipFill>
        <p:spPr>
          <a:xfrm flipH="1">
            <a:off x="0" y="0"/>
            <a:ext cx="12192000" cy="6855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4380" y="1276990"/>
            <a:ext cx="5385079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12904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BE14B8-5058-4271-B378-2217DE83796E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2980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2904" y="2471736"/>
            <a:ext cx="5385079" cy="349312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088966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BE14B8-5058-4271-B378-2217DE83796E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893514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A9C84165-A857-83C5-C6BE-C4EB68C9063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759"/>
          <a:stretch>
            <a:fillRect/>
          </a:stretch>
        </p:blipFill>
        <p:spPr>
          <a:xfrm flipH="1">
            <a:off x="0" y="2040834"/>
            <a:ext cx="12192000" cy="48171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800" y="1946412"/>
            <a:ext cx="2971800" cy="3192118"/>
          </a:xfrm>
        </p:spPr>
        <p:txBody>
          <a:bodyPr anchor="t">
            <a:normAutofit/>
          </a:bodyPr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14858"/>
            <a:ext cx="2452852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8C06331-6E41-42DD-926E-C670E485C891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2980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38700" y="1946413"/>
            <a:ext cx="5189220" cy="319211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6664980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6CB2F34-49A1-4C07-91D5-90BE967306D3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7660054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8" y="1828800"/>
            <a:ext cx="8496302" cy="1010093"/>
          </a:xfrm>
        </p:spPr>
        <p:txBody>
          <a:bodyPr anchor="b">
            <a:normAutofit/>
          </a:bodyPr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30B0CD9-4253-4E22-9BCD-0DF67297DF8E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866900" y="3168292"/>
            <a:ext cx="8496300" cy="262540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79987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1126457"/>
            <a:ext cx="3667167" cy="288928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57677" y="214858"/>
            <a:ext cx="1522740" cy="338328"/>
          </a:xfrm>
        </p:spPr>
        <p:txBody>
          <a:bodyPr/>
          <a:lstStyle/>
          <a:p>
            <a:fld id="{81C379B3-3585-4FAF-BD63-57B9BB47E12C}" type="datetime1">
              <a:rPr lang="en-US" smtClean="0"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258" y="21485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57677" y="1126457"/>
            <a:ext cx="5848423" cy="51219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2249682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1126457"/>
            <a:ext cx="2920407" cy="288928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1811877" cy="338328"/>
          </a:xfrm>
        </p:spPr>
        <p:txBody>
          <a:bodyPr/>
          <a:lstStyle/>
          <a:p>
            <a:fld id="{81C379B3-3585-4FAF-BD63-57B9BB47E12C}" type="datetime1">
              <a:rPr lang="en-US" smtClean="0"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258" y="21485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055523" y="1126457"/>
            <a:ext cx="7503203" cy="51219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762555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4EE7FE5-A250-423F-B9E1-3EE5D07A8055}" type="datetime1">
              <a:rPr lang="en-US" smtClean="0"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57430872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5467" y="1115568"/>
            <a:ext cx="2505264" cy="162412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15467" y="215823"/>
            <a:ext cx="189925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4EE7FE5-A250-423F-B9E1-3EE5D07A8055}" type="datetime1">
              <a:rPr lang="en-US" smtClean="0"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650" y="215823"/>
            <a:ext cx="538545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-1" y="1181100"/>
            <a:ext cx="8356833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15467" y="3646713"/>
            <a:ext cx="2505264" cy="27286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72899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48B2456C-66BE-435E-8059-3A9CD55F29F9}" type="datetime1">
              <a:rPr lang="en-US" smtClean="0"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68535823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17409D93-5111-4952-AC4F-FA1AE909A4B8}" type="datetime1">
              <a:rPr lang="en-US" smtClean="0"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707995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7906" y="1115568"/>
            <a:ext cx="3608254" cy="138958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47915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7905" y="219456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90D2F5B-FA0B-4BE5-A43F-B1BC737359C6}" type="datetime1">
              <a:rPr lang="en-US" smtClean="0"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63D2D48-CE58-FD80-93F7-B87C97B9040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7336219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77904" y="2705100"/>
            <a:ext cx="3608255" cy="37338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7997113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43E10B2-AFF3-4A4A-BC83-5BB137C878CB}" type="datetime1">
              <a:rPr lang="en-US" smtClean="0"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7325338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1115568"/>
            <a:ext cx="4643555" cy="160020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5546"/>
            <a:ext cx="2478874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399" y="208604"/>
            <a:ext cx="245079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3D817FD-3A47-446D-9853-4CD5CA57130C}" type="datetime1">
              <a:rPr lang="en-US" smtClean="0"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A4BFBD2-FAF6-BBCA-8426-AB0631D8CFC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964766" y="1181100"/>
            <a:ext cx="5352086" cy="2615648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67398" y="4055164"/>
            <a:ext cx="5449453" cy="219323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2713434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C1935215-257D-4F50-AF56-70E3294947FA}" type="datetime1">
              <a:rPr lang="en-US" smtClean="0"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68249809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2B0E3CDF-6E7C-4C67-B567-8606B07963A0}" type="datetime1">
              <a:rPr lang="en-US" smtClean="0"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4086046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1" y="1115568"/>
            <a:ext cx="2514599" cy="2463733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5546"/>
            <a:ext cx="2514600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64832" y="208604"/>
            <a:ext cx="147386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3E423F1-C154-447D-8038-21B94CB501EB}" type="datetime1">
              <a:rPr lang="en-US" smtClean="0"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64833" y="1106780"/>
            <a:ext cx="8286147" cy="246373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A4BFBD2-FAF6-BBCA-8426-AB0631D8CFC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49057" y="4159154"/>
            <a:ext cx="8742943" cy="2698845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87085382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1" y="1115568"/>
            <a:ext cx="2514599" cy="2463733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5546"/>
            <a:ext cx="2514600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64832" y="208604"/>
            <a:ext cx="147386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3E423F1-C154-447D-8038-21B94CB501EB}" type="datetime1">
              <a:rPr lang="en-US" smtClean="0"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64834" y="1106780"/>
            <a:ext cx="8408066" cy="246373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A4BFBD2-FAF6-BBCA-8426-AB0631D8CFC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4159154"/>
            <a:ext cx="12192000" cy="2698845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31016447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5060FE60-4389-4D8B-84BB-900FC000024C}" type="datetime1">
              <a:rPr lang="en-US" smtClean="0"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852135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602" y="1115568"/>
            <a:ext cx="6931698" cy="1002834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4154" y="216914"/>
            <a:ext cx="2703777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884825" y="216914"/>
            <a:ext cx="2338650" cy="338328"/>
          </a:xfrm>
        </p:spPr>
        <p:txBody>
          <a:bodyPr/>
          <a:lstStyle/>
          <a:p>
            <a:fld id="{CDFDD458-C945-484A-9891-FE9FDA97486D}" type="datetime1">
              <a:rPr lang="en-US" smtClean="0"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010" y="216914"/>
            <a:ext cx="557090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1601" y="2133600"/>
            <a:ext cx="6931699" cy="4305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6075FF6-E149-1A82-B924-97E715A8DF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982262" y="1184555"/>
            <a:ext cx="4209738" cy="5673445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75174338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1115568"/>
            <a:ext cx="3496809" cy="307072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562100" cy="338328"/>
          </a:xfrm>
        </p:spPr>
        <p:txBody>
          <a:bodyPr/>
          <a:lstStyle/>
          <a:p>
            <a:fld id="{94725937-D428-4BAE-A05C-202DA13E49D5}" type="datetime1">
              <a:rPr lang="en-US" smtClean="0"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29695" y="1193656"/>
            <a:ext cx="3962400" cy="5664344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23960" y="1122776"/>
            <a:ext cx="2717800" cy="5316124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6092603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1115568"/>
            <a:ext cx="2515758" cy="294642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399" y="214858"/>
            <a:ext cx="1718441" cy="338328"/>
          </a:xfrm>
        </p:spPr>
        <p:txBody>
          <a:bodyPr/>
          <a:lstStyle/>
          <a:p>
            <a:fld id="{709FB1D6-B85F-447E-8712-A80ECD75AAB1}" type="datetime1">
              <a:rPr lang="en-US" smtClean="0"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1696" y="214858"/>
            <a:ext cx="53852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798" y="1104900"/>
            <a:ext cx="3756213" cy="51435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AC86244-A1E7-A69F-206A-B47C58B746B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843347" y="1181100"/>
            <a:ext cx="4348653" cy="5676899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57716763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6709B22-BFE8-4BFE-80D5-4133DC0C2AC6}" type="datetime1">
              <a:rPr lang="en-US" smtClean="0"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9371263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BFCE55E5-7E1C-4243-A685-91A6EB8BE97F}" type="datetime1">
              <a:rPr lang="en-US" smtClean="0"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993752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5AFD96D-C3CB-4F44-8CE3-582861660F11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24071668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object&#10;&#10;AI-generated content may be incorrect.">
            <a:extLst>
              <a:ext uri="{FF2B5EF4-FFF2-40B4-BE49-F238E27FC236}">
                <a16:creationId xmlns:a16="http://schemas.microsoft.com/office/drawing/2014/main" id="{5586A49A-95E2-7B45-57DD-762AFFF194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72" t="-1" r="2873" b="7130"/>
          <a:stretch>
            <a:fillRect/>
          </a:stretch>
        </p:blipFill>
        <p:spPr>
          <a:xfrm rot="10800000" flipH="1" flipV="1">
            <a:off x="0" y="-1"/>
            <a:ext cx="12192000" cy="6855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5144654"/>
            <a:ext cx="5435008" cy="129424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lnSpc>
                <a:spcPct val="100000"/>
              </a:lnSpc>
              <a:defRPr lang="en-US" sz="2000" spc="-50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60BA8B-5FF3-49A6-9895-94F61A8CE576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3AAB847-04D8-7C24-A07E-65F280B26D5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44488" y="552450"/>
            <a:ext cx="11498262" cy="3937000"/>
          </a:xfrm>
        </p:spPr>
        <p:txBody>
          <a:bodyPr anchor="b"/>
          <a:lstStyle>
            <a:lvl1pPr>
              <a:defRPr sz="27500"/>
            </a:lvl1pPr>
          </a:lstStyle>
          <a:p>
            <a:pPr lvl="0"/>
            <a:r>
              <a:rPr lang="en-US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7671399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C39E5039-4CEB-24E7-A2E7-F7D46B2D8B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898"/>
            <a:ext cx="12223173" cy="688164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50697A7-9277-BB02-6AE2-42676133D6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802640"/>
            <a:ext cx="4000500" cy="1137920"/>
          </a:xfrm>
        </p:spPr>
        <p:txBody>
          <a:bodyPr/>
          <a:lstStyle>
            <a:lvl1pPr>
              <a:defRPr sz="24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DDFA7E-E414-422B-ACFF-8C3D6A1A67FB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C871739-B2C5-FF57-BBD7-3F61A35A3F3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58775" y="2684463"/>
            <a:ext cx="11414125" cy="4411662"/>
          </a:xfrm>
        </p:spPr>
        <p:txBody>
          <a:bodyPr lIns="0" tIns="0" rIns="0" bIns="0" anchor="b"/>
          <a:lstStyle>
            <a:lvl1pPr>
              <a:lnSpc>
                <a:spcPct val="85000"/>
              </a:lnSpc>
              <a:defRPr sz="30500" spc="-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99760101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3332489-DC9C-40A3-89C4-AFC56B3B0CAB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148001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red and purple light&#10;&#10;AI-generated content may be incorrect.">
            <a:extLst>
              <a:ext uri="{FF2B5EF4-FFF2-40B4-BE49-F238E27FC236}">
                <a16:creationId xmlns:a16="http://schemas.microsoft.com/office/drawing/2014/main" id="{2424DF04-0206-4859-9FB9-6A2579527E1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78" t="38163" r="27927" b="10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52800" y="219456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20200" y="219456"/>
            <a:ext cx="15227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B68620-47AE-4F32-A04B-1342501F877C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352800" y="1405719"/>
            <a:ext cx="7353300" cy="4012442"/>
          </a:xfrm>
        </p:spPr>
        <p:txBody>
          <a:bodyPr anchor="t">
            <a:normAutofit/>
          </a:bodyPr>
          <a:lstStyle>
            <a:lvl1pPr marL="0" indent="0">
              <a:lnSpc>
                <a:spcPct val="85000"/>
              </a:lnSpc>
              <a:buNone/>
              <a:defRPr sz="54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8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236271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object&#10;&#10;AI-generated content may be incorrect.">
            <a:extLst>
              <a:ext uri="{FF2B5EF4-FFF2-40B4-BE49-F238E27FC236}">
                <a16:creationId xmlns:a16="http://schemas.microsoft.com/office/drawing/2014/main" id="{06D2715B-CAEE-9AAB-7191-D98012435C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5" r="1125" b="21235"/>
          <a:stretch>
            <a:fillRect/>
          </a:stretch>
        </p:blipFill>
        <p:spPr>
          <a:xfrm rot="10800000">
            <a:off x="0" y="875"/>
            <a:ext cx="12192000" cy="68571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38700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0A8EBD6-625B-484B-BC25-3573CF53D407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838700" y="1740023"/>
            <a:ext cx="6310269" cy="4637725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48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28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24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2579418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3332489-DC9C-40A3-89C4-AFC56B3B0CAB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133600"/>
            <a:ext cx="9393641" cy="4305299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72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5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8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3060264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03F4C9-1C82-4616-8D26-0B0587291200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57032959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027268CA-0348-F6FC-5FB0-87BADE436A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82" r="20481"/>
          <a:stretch>
            <a:fillRect/>
          </a:stretch>
        </p:blipFill>
        <p:spPr>
          <a:xfrm rot="5400000" flipH="1">
            <a:off x="2667001" y="-2667001"/>
            <a:ext cx="6858000" cy="12192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392" y="5226427"/>
            <a:ext cx="8382001" cy="837861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defRPr sz="1400" b="0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DCC6FE3-E805-41B1-96EC-B0B83218C881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2392" y="2017401"/>
            <a:ext cx="8368707" cy="2981163"/>
          </a:xfrm>
        </p:spPr>
        <p:txBody>
          <a:bodyPr anchor="t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46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75706724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olorful light on a black background&#10;&#10;AI-generated content may be incorrect.">
            <a:extLst>
              <a:ext uri="{FF2B5EF4-FFF2-40B4-BE49-F238E27FC236}">
                <a16:creationId xmlns:a16="http://schemas.microsoft.com/office/drawing/2014/main" id="{F0687863-E84B-D6E2-6049-AF65BB1972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1115568"/>
            <a:ext cx="12192000" cy="57424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3982" y="5029200"/>
            <a:ext cx="8347118" cy="713232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defRPr sz="1400" b="0" cap="all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DBB5726-A743-47D1-86E4-46BB349D0446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3982" y="1115568"/>
            <a:ext cx="8347118" cy="3584448"/>
          </a:xfrm>
        </p:spPr>
        <p:txBody>
          <a:bodyPr anchor="ctr">
            <a:normAutofit/>
          </a:bodyPr>
          <a:lstStyle>
            <a:lvl1pPr marL="137160" indent="-13716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69693105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object&#10;&#10;AI-generated content may be incorrect.">
            <a:extLst>
              <a:ext uri="{FF2B5EF4-FFF2-40B4-BE49-F238E27FC236}">
                <a16:creationId xmlns:a16="http://schemas.microsoft.com/office/drawing/2014/main" id="{52439AE8-E053-A902-BEE2-9CECF6AE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769" t="8943" r="104" b="13677"/>
          <a:stretch>
            <a:fillRect/>
          </a:stretch>
        </p:blipFill>
        <p:spPr>
          <a:xfrm>
            <a:off x="0" y="0"/>
            <a:ext cx="12192000" cy="685712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FDFF10A2-0E03-73DB-5224-98043612F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0791" y="5151120"/>
            <a:ext cx="5446609" cy="806517"/>
          </a:xfrm>
        </p:spPr>
        <p:txBody>
          <a:bodyPr anchor="ctr"/>
          <a:lstStyle>
            <a:lvl1pPr>
              <a:defRPr sz="140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F47579-571B-45A3-BDCA-E2964689F659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1501541"/>
            <a:ext cx="7342632" cy="3397064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5000"/>
              </a:lnSpc>
              <a:spcBef>
                <a:spcPts val="0"/>
              </a:spcBef>
              <a:buFont typeface="Arial" panose="020B0604020202020204" pitchFamily="34" charset="0"/>
              <a:buNone/>
              <a:defRPr sz="43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67589232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06436" y="4671787"/>
            <a:ext cx="7179129" cy="1028700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6E2CA6-CB6A-465C-BAA7-384FD497485D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506435" y="1623265"/>
            <a:ext cx="7179130" cy="3048522"/>
          </a:xfrm>
        </p:spPr>
        <p:txBody>
          <a:bodyPr anchor="ctr">
            <a:normAutofit/>
          </a:bodyPr>
          <a:lstStyle>
            <a:lvl1pPr marL="137160" indent="-137160" algn="ctr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4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6230738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8C42AE-61C6-458B-86C3-22D39A5E8956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1164235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3D71BEE-9C65-4D84-970B-0B47E929926B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0098387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FCF02-D35E-46A4-B7A1-1A2B81F8D932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72946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57AF51-4D04-4E0C-B33D-81940CAB4B07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93252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1115568"/>
            <a:ext cx="3363393" cy="1371600"/>
          </a:xfrm>
        </p:spPr>
        <p:txBody>
          <a:bodyPr anchor="t">
            <a:normAutofit/>
          </a:bodyPr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1495C13-5B9F-4AD1-A2E2-FB0B577AF6CA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2393" y="2563585"/>
            <a:ext cx="3363393" cy="3684815"/>
          </a:xfrm>
        </p:spPr>
        <p:txBody>
          <a:bodyPr anchor="b"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8700" y="1104900"/>
            <a:ext cx="6934200" cy="520128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400" dirty="0">
                <a:solidFill>
                  <a:schemeClr val="tx1"/>
                </a:solidFill>
              </a:defRPr>
            </a:lvl1pPr>
            <a:lvl2pPr>
              <a:defRPr lang="en-US" sz="1200" dirty="0">
                <a:solidFill>
                  <a:schemeClr val="tx1"/>
                </a:solidFill>
              </a:defRPr>
            </a:lvl2pPr>
            <a:lvl3pPr>
              <a:defRPr lang="en-US" sz="1200" dirty="0">
                <a:solidFill>
                  <a:schemeClr val="tx1"/>
                </a:solidFill>
              </a:defRPr>
            </a:lvl3pPr>
            <a:lvl4pPr>
              <a:defRPr lang="en-US" sz="1200" dirty="0">
                <a:solidFill>
                  <a:schemeClr val="tx1"/>
                </a:solidFill>
              </a:defRPr>
            </a:lvl4pPr>
            <a:lvl5pPr>
              <a:defRPr lang="en-US" sz="12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89867172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104901"/>
            <a:ext cx="2932434" cy="1600200"/>
          </a:xfrm>
        </p:spPr>
        <p:txBody>
          <a:bodyPr anchor="t">
            <a:normAutofit/>
          </a:bodyPr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01692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19456"/>
            <a:ext cx="142984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D189146-EED2-4B95-95A3-EC3C7CBF180D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7593" y="216280"/>
            <a:ext cx="56063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866900" y="3345180"/>
            <a:ext cx="2620859" cy="309372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A723B90-4D46-48FC-60FC-714099462E4C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924129" y="1104900"/>
            <a:ext cx="7267870" cy="5753100"/>
          </a:xfrm>
          <a:custGeom>
            <a:avLst/>
            <a:gdLst>
              <a:gd name="connsiteX0" fmla="*/ 0 w 7353300"/>
              <a:gd name="connsiteY0" fmla="*/ 0 h 5901550"/>
              <a:gd name="connsiteX1" fmla="*/ 7353300 w 7353300"/>
              <a:gd name="connsiteY1" fmla="*/ 0 h 5901550"/>
              <a:gd name="connsiteX2" fmla="*/ 7353300 w 7353300"/>
              <a:gd name="connsiteY2" fmla="*/ 5901550 h 5901550"/>
              <a:gd name="connsiteX3" fmla="*/ 0 w 7353300"/>
              <a:gd name="connsiteY3" fmla="*/ 5901550 h 5901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53300" h="5901550">
                <a:moveTo>
                  <a:pt x="0" y="0"/>
                </a:moveTo>
                <a:lnTo>
                  <a:pt x="7353300" y="0"/>
                </a:lnTo>
                <a:lnTo>
                  <a:pt x="7353300" y="5901550"/>
                </a:lnTo>
                <a:lnTo>
                  <a:pt x="0" y="590155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24753067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DABFCF2-BE01-43CB-85B3-49CC0FE55050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7098259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19A0F5-9D15-4E68-95BA-31AD4F5D84D0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982030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63" Type="http://schemas.openxmlformats.org/officeDocument/2006/relationships/slideLayout" Target="../slideLayouts/slideLayout6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F288AF9F-2338-4040-A485-373B8EC8151E}" type="datetime1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35997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6" r:id="rId1"/>
    <p:sldLayoutId id="2147483652" r:id="rId2"/>
    <p:sldLayoutId id="2147483733" r:id="rId3"/>
    <p:sldLayoutId id="2147483657" r:id="rId4"/>
    <p:sldLayoutId id="2147483744" r:id="rId5"/>
    <p:sldLayoutId id="2147483658" r:id="rId6"/>
    <p:sldLayoutId id="2147483732" r:id="rId7"/>
    <p:sldLayoutId id="2147483741" r:id="rId8"/>
    <p:sldLayoutId id="2147483760" r:id="rId9"/>
    <p:sldLayoutId id="2147483745" r:id="rId10"/>
    <p:sldLayoutId id="2147483654" r:id="rId11"/>
    <p:sldLayoutId id="2147483759" r:id="rId12"/>
    <p:sldLayoutId id="2147483707" r:id="rId13"/>
    <p:sldLayoutId id="2147483659" r:id="rId14"/>
    <p:sldLayoutId id="2147483764" r:id="rId15"/>
    <p:sldLayoutId id="2147483660" r:id="rId16"/>
    <p:sldLayoutId id="2147483765" r:id="rId17"/>
    <p:sldLayoutId id="2147483661" r:id="rId18"/>
    <p:sldLayoutId id="2147483662" r:id="rId19"/>
    <p:sldLayoutId id="2147483742" r:id="rId20"/>
    <p:sldLayoutId id="2147483746" r:id="rId21"/>
    <p:sldLayoutId id="2147483664" r:id="rId22"/>
    <p:sldLayoutId id="2147483663" r:id="rId23"/>
    <p:sldLayoutId id="2147483743" r:id="rId24"/>
    <p:sldLayoutId id="2147483666" r:id="rId25"/>
    <p:sldLayoutId id="2147483769" r:id="rId26"/>
    <p:sldLayoutId id="2147483676" r:id="rId27"/>
    <p:sldLayoutId id="2147483758" r:id="rId28"/>
    <p:sldLayoutId id="2147483680" r:id="rId29"/>
    <p:sldLayoutId id="2147483734" r:id="rId30"/>
    <p:sldLayoutId id="2147483671" r:id="rId31"/>
    <p:sldLayoutId id="2147483751" r:id="rId32"/>
    <p:sldLayoutId id="2147483675" r:id="rId33"/>
    <p:sldLayoutId id="2147483703" r:id="rId34"/>
    <p:sldLayoutId id="2147483752" r:id="rId35"/>
    <p:sldLayoutId id="2147483737" r:id="rId36"/>
    <p:sldLayoutId id="2147483753" r:id="rId37"/>
    <p:sldLayoutId id="2147483674" r:id="rId38"/>
    <p:sldLayoutId id="2147483702" r:id="rId39"/>
    <p:sldLayoutId id="2147483670" r:id="rId40"/>
    <p:sldLayoutId id="2147483735" r:id="rId41"/>
    <p:sldLayoutId id="2147483669" r:id="rId42"/>
    <p:sldLayoutId id="2147483682" r:id="rId43"/>
    <p:sldLayoutId id="2147483719" r:id="rId44"/>
    <p:sldLayoutId id="2147483686" r:id="rId45"/>
    <p:sldLayoutId id="2147483720" r:id="rId46"/>
    <p:sldLayoutId id="2147483768" r:id="rId47"/>
    <p:sldLayoutId id="2147483710" r:id="rId48"/>
    <p:sldLayoutId id="2147483729" r:id="rId49"/>
    <p:sldLayoutId id="2147483730" r:id="rId50"/>
    <p:sldLayoutId id="2147483713" r:id="rId51"/>
    <p:sldLayoutId id="2147483693" r:id="rId52"/>
    <p:sldLayoutId id="2147483690" r:id="rId53"/>
    <p:sldLayoutId id="2147483726" r:id="rId54"/>
    <p:sldLayoutId id="2147483691" r:id="rId55"/>
    <p:sldLayoutId id="2147483694" r:id="rId56"/>
    <p:sldLayoutId id="2147483695" r:id="rId57"/>
    <p:sldLayoutId id="2147483696" r:id="rId58"/>
    <p:sldLayoutId id="2147483697" r:id="rId59"/>
    <p:sldLayoutId id="2147483698" r:id="rId60"/>
    <p:sldLayoutId id="2147483699" r:id="rId61"/>
    <p:sldLayoutId id="2147483700" r:id="rId62"/>
    <p:sldLayoutId id="2147483701" r:id="rId63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 userDrawn="1">
          <p15:clr>
            <a:srgbClr val="F26B43"/>
          </p15:clr>
        </p15:guide>
        <p15:guide id="4" orient="horz" pos="264" userDrawn="1">
          <p15:clr>
            <a:srgbClr val="F26B43"/>
          </p15:clr>
        </p15:guide>
        <p15:guide id="5" pos="7416" userDrawn="1">
          <p15:clr>
            <a:srgbClr val="F26B43"/>
          </p15:clr>
        </p15:guide>
        <p15:guide id="12" pos="4632" userDrawn="1">
          <p15:clr>
            <a:srgbClr val="F26B43"/>
          </p15:clr>
        </p15:guide>
        <p15:guide id="13" pos="5544" userDrawn="1">
          <p15:clr>
            <a:srgbClr val="F26B43"/>
          </p15:clr>
        </p15:guide>
        <p15:guide id="26" pos="2784" userDrawn="1">
          <p15:clr>
            <a:srgbClr val="F26B43"/>
          </p15:clr>
        </p15:guide>
        <p15:guide id="27" pos="3048" userDrawn="1">
          <p15:clr>
            <a:srgbClr val="F26B43"/>
          </p15:clr>
        </p15:guide>
        <p15:guide id="29" pos="3960" userDrawn="1">
          <p15:clr>
            <a:srgbClr val="F26B43"/>
          </p15:clr>
        </p15:guide>
        <p15:guide id="30" pos="1176" userDrawn="1">
          <p15:clr>
            <a:srgbClr val="F26B43"/>
          </p15:clr>
        </p15:guide>
        <p15:guide id="31" pos="912" userDrawn="1">
          <p15:clr>
            <a:srgbClr val="F26B43"/>
          </p15:clr>
        </p15:guide>
        <p15:guide id="32" pos="3696" userDrawn="1">
          <p15:clr>
            <a:srgbClr val="F26B43"/>
          </p15:clr>
        </p15:guide>
        <p15:guide id="33" pos="1848" userDrawn="1">
          <p15:clr>
            <a:srgbClr val="F26B43"/>
          </p15:clr>
        </p15:guide>
        <p15:guide id="34" pos="2112" userDrawn="1">
          <p15:clr>
            <a:srgbClr val="F26B43"/>
          </p15:clr>
        </p15:guide>
        <p15:guide id="36" pos="6528" userDrawn="1">
          <p15:clr>
            <a:srgbClr val="F26B43"/>
          </p15:clr>
        </p15:guide>
        <p15:guide id="37" pos="6744" userDrawn="1">
          <p15:clr>
            <a:srgbClr val="F26B43"/>
          </p15:clr>
        </p15:guide>
        <p15:guide id="42" orient="horz" pos="39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EA4D2C-4D5C-AC28-D8CC-859AFF9DBC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/>
          <a:lstStyle/>
          <a:p>
            <a:r>
              <a:rPr lang="hu-HU" noProof="0" dirty="0"/>
              <a:t>FastFuel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B102265-8990-D1BC-A9F2-66CA9D9221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/>
          <a:lstStyle/>
          <a:p>
            <a:r>
              <a:rPr lang="hu-HU" noProof="0" dirty="0">
                <a:ea typeface="+mn-lt"/>
                <a:cs typeface="+mn-lt"/>
              </a:rPr>
              <a:t>Központosított étteremlánc-kezelő rendszer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1489048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3FFDFF-9B0E-D98E-F640-7CC06DFEE5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hu-HU" noProof="0" dirty="0">
                <a:ea typeface="+mn-lt"/>
                <a:cs typeface="+mn-lt"/>
              </a:rPr>
              <a:t>Bevezetés és Üzleti Logika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3226023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6F9A0-3C8C-0EE3-56BB-D3F48BB1B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noProof="0" dirty="0"/>
              <a:t>A Probléma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DA21EF-FFD1-3E32-1255-257F89F52A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1800" noProof="0" dirty="0">
                <a:ea typeface="+mn-lt"/>
                <a:cs typeface="+mn-lt"/>
              </a:rPr>
              <a:t>A FastFuel rendszer több problémát is képes megoldani egy kisebb étteremlánc számára</a:t>
            </a:r>
            <a:endParaRPr lang="hu-HU" sz="1800" noProof="0" dirty="0"/>
          </a:p>
          <a:p>
            <a:pPr marL="285750" indent="-285750">
              <a:buFont typeface="Arial"/>
              <a:buChar char="•"/>
            </a:pPr>
            <a:r>
              <a:rPr lang="hu-HU" sz="1800" noProof="0" dirty="0">
                <a:ea typeface="+mn-lt"/>
                <a:cs typeface="+mn-lt"/>
              </a:rPr>
              <a:t>Kaotikus, papíralapú munkafolyamatokat leegyszerűsíti</a:t>
            </a:r>
            <a:endParaRPr lang="hu-HU" noProof="0" dirty="0"/>
          </a:p>
          <a:p>
            <a:pPr marL="285750" indent="-285750">
              <a:buFont typeface="Arial"/>
              <a:buChar char="•"/>
            </a:pPr>
            <a:r>
              <a:rPr lang="hu-HU" sz="1800" noProof="0" dirty="0">
                <a:ea typeface="+mn-lt"/>
                <a:cs typeface="+mn-lt"/>
              </a:rPr>
              <a:t>Lassú konyhai kommunikációt felgyorsítja</a:t>
            </a:r>
            <a:endParaRPr lang="hu-HU" noProof="0" dirty="0"/>
          </a:p>
          <a:p>
            <a:pPr marL="285750" indent="-285750">
              <a:buFont typeface="Arial"/>
              <a:buChar char="•"/>
            </a:pPr>
            <a:r>
              <a:rPr lang="hu-HU" sz="1800" noProof="0" dirty="0"/>
              <a:t>Javítja a vendégélményt</a:t>
            </a:r>
          </a:p>
          <a:p>
            <a:endParaRPr lang="hu-HU" sz="1800" noProof="0" dirty="0"/>
          </a:p>
        </p:txBody>
      </p:sp>
    </p:spTree>
    <p:extLst>
      <p:ext uri="{BB962C8B-B14F-4D97-AF65-F5344CB8AC3E}">
        <p14:creationId xmlns:p14="http://schemas.microsoft.com/office/powerpoint/2010/main" val="4274478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EF2D-D9BF-304F-EC57-11ADDEEB8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noProof="0" dirty="0"/>
              <a:t>Ki a célközönség?</a:t>
            </a:r>
            <a:endParaRPr lang="hu-HU" noProof="0" dirty="0">
              <a:solidFill>
                <a:srgbClr val="000000"/>
              </a:solidFill>
            </a:endParaRPr>
          </a:p>
          <a:p>
            <a:endParaRPr lang="hu-HU" noProof="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E6F0DB-797B-4D56-082E-01B5F0D04D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668523" cy="366273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 sz="2000" noProof="0" dirty="0">
                <a:ea typeface="+mn-lt"/>
                <a:cs typeface="+mn-lt"/>
              </a:rPr>
              <a:t>A projekt egy 5-10 étteremből álló étteremláncnak lett szánva, ami szeretné a teljes munkafolyamat digitalizálni 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22284232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016AE-4BEF-993E-2702-DB4ED19E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noProof="0" dirty="0"/>
              <a:t>Miért a FastFuel?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BA6C84-C8FE-591F-855B-4D3CC29A1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1600" noProof="0" dirty="0">
                <a:latin typeface="Times New Roman"/>
                <a:cs typeface="Times New Roman"/>
              </a:rPr>
              <a:t>Az étlap kezelését, beleértve az ételeket, menüket, összetevőket és allergéneket,</a:t>
            </a:r>
          </a:p>
          <a:p>
            <a:r>
              <a:rPr lang="hu-HU" sz="1600" noProof="0" dirty="0">
                <a:latin typeface="Times New Roman"/>
                <a:cs typeface="Times New Roman"/>
              </a:rPr>
              <a:t> A rendelések felvételét dolgozói felületen, online és önkiszolgáló kioszkról egyaránt,</a:t>
            </a:r>
          </a:p>
          <a:p>
            <a:r>
              <a:rPr lang="hu-HU" sz="1600" noProof="0" dirty="0">
                <a:latin typeface="Times New Roman"/>
                <a:cs typeface="Times New Roman"/>
              </a:rPr>
              <a:t>A konyhai feladatok automatikus szétosztását az érintett állomások között,</a:t>
            </a:r>
          </a:p>
          <a:p>
            <a:r>
              <a:rPr lang="hu-HU" sz="1600" noProof="0" dirty="0">
                <a:latin typeface="Times New Roman"/>
                <a:cs typeface="Times New Roman"/>
              </a:rPr>
              <a:t>A dolgozók konyhai állomásokra való betanításának nyilvántartását,</a:t>
            </a:r>
          </a:p>
          <a:p>
            <a:r>
              <a:rPr lang="hu-HU" sz="1600" noProof="0" dirty="0">
                <a:latin typeface="Times New Roman"/>
                <a:cs typeface="Times New Roman"/>
              </a:rPr>
              <a:t>A rendelési állapot valós idejű megjelenítését a lobbyban várakozó vendégek számára,</a:t>
            </a:r>
          </a:p>
          <a:p>
            <a:r>
              <a:rPr lang="hu-HU" sz="1600" noProof="0" dirty="0">
                <a:latin typeface="Times New Roman"/>
                <a:cs typeface="Times New Roman"/>
              </a:rPr>
              <a:t>A műszakbeosztás kezelését és a dolgozók saját beosztásának megtekintését,</a:t>
            </a:r>
          </a:p>
          <a:p>
            <a:r>
              <a:rPr lang="hu-HU" sz="1600" noProof="0" dirty="0">
                <a:latin typeface="Times New Roman"/>
                <a:cs typeface="Times New Roman"/>
              </a:rPr>
              <a:t>Az egyes éttermekhez tartozó adatok (helyszín, elérhetőség, nyitvatartás) nyilvántartását,</a:t>
            </a:r>
          </a:p>
          <a:p>
            <a:r>
              <a:rPr lang="hu-HU" sz="1600" noProof="0" dirty="0">
                <a:latin typeface="Times New Roman"/>
                <a:cs typeface="Times New Roman"/>
              </a:rPr>
              <a:t>A felhasználók regisztrációját és kezelését különböző típusok szerint (vásárló, dolgozó, admin, gép),</a:t>
            </a:r>
          </a:p>
          <a:p>
            <a:r>
              <a:rPr lang="hu-HU" sz="1600" noProof="0" dirty="0">
                <a:latin typeface="Times New Roman"/>
                <a:cs typeface="Times New Roman"/>
              </a:rPr>
              <a:t>A tetszőleges számú szerepkör létrehozását és jogosultságok részletes szabályozását.</a:t>
            </a:r>
          </a:p>
          <a:p>
            <a:pPr algn="r"/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129928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F7BD4-C8CA-01CE-13E9-0EF4E9029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noProof="0" dirty="0">
                <a:ea typeface="+mj-lt"/>
                <a:cs typeface="+mj-lt"/>
              </a:rPr>
              <a:t>Meg nem valósított funkciók</a:t>
            </a:r>
            <a:endParaRPr lang="hu-HU" noProof="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7127D-3B58-081D-659F-95D51ECB366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51993" y="1714915"/>
            <a:ext cx="4780121" cy="21207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 sz="2000" noProof="0" dirty="0"/>
              <a:t>Témák</a:t>
            </a:r>
          </a:p>
          <a:p>
            <a:r>
              <a:rPr lang="hu-HU" sz="2000" noProof="0" dirty="0"/>
              <a:t>Részletes utasítások a dolgozóknak</a:t>
            </a:r>
          </a:p>
        </p:txBody>
      </p:sp>
    </p:spTree>
    <p:extLst>
      <p:ext uri="{BB962C8B-B14F-4D97-AF65-F5344CB8AC3E}">
        <p14:creationId xmlns:p14="http://schemas.microsoft.com/office/powerpoint/2010/main" val="1908125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FB685-CB50-ED0F-2072-590D86200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FFBF6-C0FA-7A92-76B0-4AF2D199B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noProof="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6CC97F-0F1E-C338-EF0B-9A20B78C2FD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hu-HU" noProof="0" dirty="0">
                <a:ea typeface="+mn-lt"/>
                <a:cs typeface="+mn-lt"/>
              </a:rPr>
              <a:t>Technológia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1643022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A18AA66-94E6-CD41-F1FF-B4854533EB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090511"/>
              </p:ext>
            </p:extLst>
          </p:nvPr>
        </p:nvGraphicFramePr>
        <p:xfrm>
          <a:off x="851647" y="1467970"/>
          <a:ext cx="9908454" cy="35584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818">
                  <a:extLst>
                    <a:ext uri="{9D8B030D-6E8A-4147-A177-3AD203B41FA5}">
                      <a16:colId xmlns:a16="http://schemas.microsoft.com/office/drawing/2014/main" val="2636108267"/>
                    </a:ext>
                  </a:extLst>
                </a:gridCol>
                <a:gridCol w="3302818">
                  <a:extLst>
                    <a:ext uri="{9D8B030D-6E8A-4147-A177-3AD203B41FA5}">
                      <a16:colId xmlns:a16="http://schemas.microsoft.com/office/drawing/2014/main" val="1571856150"/>
                    </a:ext>
                  </a:extLst>
                </a:gridCol>
                <a:gridCol w="3302818">
                  <a:extLst>
                    <a:ext uri="{9D8B030D-6E8A-4147-A177-3AD203B41FA5}">
                      <a16:colId xmlns:a16="http://schemas.microsoft.com/office/drawing/2014/main" val="3244019609"/>
                    </a:ext>
                  </a:extLst>
                </a:gridCol>
              </a:tblGrid>
              <a:tr h="372717">
                <a:tc>
                  <a:txBody>
                    <a:bodyPr/>
                    <a:lstStyle/>
                    <a:p>
                      <a:pPr algn="ctr"/>
                      <a:r>
                        <a:rPr lang="hu-HU" noProof="0" dirty="0"/>
                        <a:t>Adatbázis</a:t>
                      </a:r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noProof="0" dirty="0"/>
                        <a:t>Backend</a:t>
                      </a:r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noProof="0" dirty="0"/>
                        <a:t>Frontend</a:t>
                      </a:r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9762271"/>
                  </a:ext>
                </a:extLst>
              </a:tr>
              <a:tr h="2271312">
                <a:tc>
                  <a:txBody>
                    <a:bodyPr/>
                    <a:lstStyle/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b="0" i="0" u="none" strike="noStrike" noProof="0" dirty="0">
                          <a:solidFill>
                            <a:srgbClr val="000000"/>
                          </a:solidFill>
                          <a:latin typeface="Neue Haas Grotesk Text Pro"/>
                          <a:cs typeface="Times New Roman"/>
                        </a:rPr>
                        <a:t>MariaDB</a:t>
                      </a:r>
                      <a:endParaRPr lang="hu-HU" sz="1600" noProof="0" dirty="0">
                        <a:latin typeface="Neue Haas Grotesk Text Pro"/>
                      </a:endParaRPr>
                    </a:p>
                  </a:txBody>
                  <a:tcP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b="0" i="0" u="none" strike="noStrike" noProof="0" dirty="0">
                          <a:solidFill>
                            <a:srgbClr val="000000"/>
                          </a:solidFill>
                          <a:latin typeface="Neue Haas Grotesk Text Pro"/>
                          <a:cs typeface="Times New Roman"/>
                        </a:rPr>
                        <a:t>C#</a:t>
                      </a:r>
                      <a:endParaRPr lang="hu-HU" sz="1600" noProof="0" dirty="0">
                        <a:latin typeface="Neue Haas Grotesk Text Pro"/>
                      </a:endParaRPr>
                    </a:p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b="0" i="0" u="none" strike="noStrike" noProof="0" dirty="0">
                          <a:solidFill>
                            <a:srgbClr val="000000"/>
                          </a:solidFill>
                          <a:latin typeface="Neue Haas Grotesk Text Pro"/>
                          <a:cs typeface="Times New Roman"/>
                        </a:rPr>
                        <a:t>EF Core</a:t>
                      </a:r>
                      <a:endParaRPr lang="hu-HU" sz="1600" noProof="0" dirty="0">
                        <a:latin typeface="Neue Haas Grotesk Text Pro"/>
                      </a:endParaRPr>
                    </a:p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b="0" i="0" u="none" strike="noStrike" noProof="0" dirty="0">
                          <a:solidFill>
                            <a:srgbClr val="000000"/>
                          </a:solidFill>
                          <a:latin typeface="Neue Haas Grotesk Text Pro"/>
                          <a:cs typeface="Times New Roman"/>
                        </a:rPr>
                        <a:t>ASP.NET Core</a:t>
                      </a:r>
                      <a:endParaRPr lang="hu-HU" sz="1600" noProof="0" dirty="0">
                        <a:latin typeface="Neue Haas Grotesk Text Pro"/>
                      </a:endParaRPr>
                    </a:p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b="0" i="0" u="none" strike="noStrike" noProof="0" dirty="0">
                          <a:solidFill>
                            <a:srgbClr val="000000"/>
                          </a:solidFill>
                          <a:latin typeface="Neue Haas Grotesk Text Pro"/>
                          <a:cs typeface="Times New Roman"/>
                        </a:rPr>
                        <a:t>OpenAPI</a:t>
                      </a:r>
                      <a:endParaRPr lang="hu-HU" sz="1600" noProof="0" dirty="0">
                        <a:latin typeface="Neue Haas Grotesk Text Pro"/>
                      </a:endParaRPr>
                    </a:p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b="0" i="0" u="none" strike="noStrike" noProof="0" dirty="0">
                          <a:solidFill>
                            <a:srgbClr val="000000"/>
                          </a:solidFill>
                          <a:latin typeface="Neue Haas Grotesk Text Pro"/>
                          <a:cs typeface="Times New Roman"/>
                        </a:rPr>
                        <a:t>Swagger UI</a:t>
                      </a:r>
                    </a:p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b="0" i="0" u="none" strike="noStrike" noProof="0" dirty="0" err="1">
                          <a:solidFill>
                            <a:srgbClr val="000000"/>
                          </a:solidFill>
                          <a:latin typeface="Neue Haas Grotesk Text Pro"/>
                          <a:cs typeface="Times New Roman"/>
                        </a:rPr>
                        <a:t>TestContainers</a:t>
                      </a:r>
                      <a:endParaRPr lang="hu-HU" sz="1600" b="0" i="0" u="none" strike="noStrike" noProof="0" dirty="0">
                        <a:solidFill>
                          <a:srgbClr val="000000"/>
                        </a:solidFill>
                        <a:latin typeface="Neue Haas Grotesk Text Pro"/>
                        <a:cs typeface="Times New Roman"/>
                      </a:endParaRPr>
                    </a:p>
                  </a:txBody>
                  <a:tcP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noProof="0" dirty="0">
                          <a:latin typeface="Neue Haas Grotesk Text Pro"/>
                          <a:cs typeface="Times New Roman"/>
                        </a:rPr>
                        <a:t>React</a:t>
                      </a:r>
                      <a:endParaRPr lang="hu-HU" sz="1600" noProof="0" dirty="0">
                        <a:latin typeface="Neue Haas Grotesk Text Pro"/>
                      </a:endParaRPr>
                    </a:p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noProof="0" dirty="0">
                          <a:latin typeface="Neue Haas Grotesk Text Pro"/>
                          <a:cs typeface="Times New Roman"/>
                        </a:rPr>
                        <a:t>TypeScript</a:t>
                      </a:r>
                      <a:endParaRPr lang="hu-HU" sz="1600" noProof="0" dirty="0">
                        <a:latin typeface="Neue Haas Grotesk Text Pro"/>
                      </a:endParaRPr>
                    </a:p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noProof="0" dirty="0" err="1">
                          <a:latin typeface="Neue Haas Grotesk Text Pro"/>
                          <a:cs typeface="Times New Roman"/>
                        </a:rPr>
                        <a:t>Mantine</a:t>
                      </a:r>
                      <a:r>
                        <a:rPr lang="hu-HU" sz="1600" noProof="0" dirty="0">
                          <a:latin typeface="Neue Haas Grotesk Text Pro"/>
                          <a:cs typeface="Times New Roman"/>
                        </a:rPr>
                        <a:t> UI</a:t>
                      </a:r>
                      <a:endParaRPr lang="hu-HU" sz="1600" noProof="0" dirty="0">
                        <a:latin typeface="Neue Haas Grotesk Text Pro"/>
                      </a:endParaRPr>
                    </a:p>
                    <a:p>
                      <a:pPr marL="0" lvl="0" indent="0" algn="l">
                        <a:buFont typeface="Arial"/>
                        <a:buNone/>
                      </a:pPr>
                      <a:r>
                        <a:rPr lang="hu-HU" sz="1600" noProof="0" dirty="0">
                          <a:latin typeface="Neue Haas Grotesk Text Pro"/>
                          <a:cs typeface="Times New Roman"/>
                        </a:rPr>
                        <a:t>Tanstack Query</a:t>
                      </a:r>
                      <a:endParaRPr lang="hu-HU" sz="1600" noProof="0" dirty="0">
                        <a:latin typeface="Neue Haas Grotesk Text Pro"/>
                      </a:endParaRPr>
                    </a:p>
                  </a:txBody>
                  <a:tcP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5285455"/>
                  </a:ext>
                </a:extLst>
              </a:tr>
              <a:tr h="860902">
                <a:tc>
                  <a:txBody>
                    <a:bodyPr/>
                    <a:lstStyle/>
                    <a:p>
                      <a:pPr algn="l"/>
                      <a:r>
                        <a:rPr lang="hu-HU" noProof="0" dirty="0"/>
                        <a:t>Császár Zoltán</a:t>
                      </a:r>
                    </a:p>
                  </a:txBody>
                  <a:tcPr>
                    <a:solidFill>
                      <a:schemeClr val="bg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b="0" i="0" u="none" strike="noStrike" noProof="0" dirty="0">
                          <a:solidFill>
                            <a:srgbClr val="09090C"/>
                          </a:solidFill>
                          <a:latin typeface="Neue Haas Grotesk Text Pro"/>
                        </a:rPr>
                        <a:t>Császár Zoltán</a:t>
                      </a:r>
                    </a:p>
                    <a:p>
                      <a:pPr lvl="0" algn="l">
                        <a:buNone/>
                      </a:pPr>
                      <a:r>
                        <a:rPr lang="hu-HU" sz="1800" b="0" i="0" u="none" strike="noStrike" noProof="0" dirty="0">
                          <a:solidFill>
                            <a:srgbClr val="09090C"/>
                          </a:solidFill>
                          <a:latin typeface="Neue Haas Grotesk Text Pro"/>
                        </a:rPr>
                        <a:t>Tircsi Kolos</a:t>
                      </a:r>
                    </a:p>
                    <a:p>
                      <a:pPr lvl="0" algn="l">
                        <a:buNone/>
                      </a:pPr>
                      <a:r>
                        <a:rPr lang="hu-HU" sz="1800" b="0" i="0" u="none" strike="noStrike" noProof="0" dirty="0">
                          <a:solidFill>
                            <a:srgbClr val="09090C"/>
                          </a:solidFill>
                          <a:latin typeface="Neue Haas Grotesk Text Pro"/>
                        </a:rPr>
                        <a:t>Massman Noah James</a:t>
                      </a:r>
                      <a:endParaRPr lang="hu-HU" b="0" noProof="0" dirty="0"/>
                    </a:p>
                  </a:txBody>
                  <a:tcPr>
                    <a:solidFill>
                      <a:schemeClr val="bg1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b="0" i="0" u="none" strike="noStrike" noProof="0" dirty="0">
                          <a:solidFill>
                            <a:srgbClr val="09090C"/>
                          </a:solidFill>
                          <a:latin typeface="Neue Haas Grotesk Text Pro"/>
                        </a:rPr>
                        <a:t>Császár Zoltán</a:t>
                      </a:r>
                    </a:p>
                    <a:p>
                      <a:pPr lvl="0" algn="l">
                        <a:buNone/>
                      </a:pPr>
                      <a:r>
                        <a:rPr lang="hu-HU" noProof="0" dirty="0"/>
                        <a:t>Tircsi Kolos</a:t>
                      </a:r>
                    </a:p>
                    <a:p>
                      <a:pPr lvl="0" algn="l">
                        <a:buNone/>
                      </a:pPr>
                      <a:r>
                        <a:rPr lang="hu-HU" noProof="0" dirty="0"/>
                        <a:t>Massman Noah James</a:t>
                      </a:r>
                    </a:p>
                  </a:txBody>
                  <a:tcPr>
                    <a:solidFill>
                      <a:schemeClr val="bg1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85626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5220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60B3F1-72D4-D94A-FE27-F2A95ECC5BA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844487" y="2001772"/>
            <a:ext cx="8506567" cy="2855388"/>
          </a:xfrm>
        </p:spPr>
        <p:txBody>
          <a:bodyPr/>
          <a:lstStyle/>
          <a:p>
            <a:pPr marL="164465" indent="-164465" algn="ctr"/>
            <a:r>
              <a:rPr lang="en-US" noProof="0" dirty="0"/>
              <a:t>Live Demo</a:t>
            </a:r>
          </a:p>
        </p:txBody>
      </p:sp>
    </p:spTree>
    <p:extLst>
      <p:ext uri="{BB962C8B-B14F-4D97-AF65-F5344CB8AC3E}">
        <p14:creationId xmlns:p14="http://schemas.microsoft.com/office/powerpoint/2010/main" val="19315123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50FFB-FA6D-9C9C-AD83-CCAF4186F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E0E1A-E592-E5E8-3838-4D5A549B1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noProof="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045B05-B523-6ADE-287E-B65E6AA441C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hu-HU" noProof="0" dirty="0">
                <a:ea typeface="+mn-lt"/>
                <a:cs typeface="+mn-lt"/>
              </a:rPr>
              <a:t>Fejlődés, Tanulságok és Q&amp;A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42403191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73F4E-5E3C-7287-E218-6D15DE5D9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noProof="0" dirty="0"/>
              <a:t>Kihívások</a:t>
            </a:r>
            <a:endParaRPr lang="hu-HU" noProof="0" dirty="0">
              <a:solidFill>
                <a:srgbClr val="000000"/>
              </a:solidFill>
            </a:endParaRPr>
          </a:p>
          <a:p>
            <a:endParaRPr lang="hu-HU" noProof="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C0A5A8-44EC-C804-BE73-B25891A23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noProof="0" dirty="0"/>
              <a:t>Inkonzisztens kódformázás</a:t>
            </a:r>
          </a:p>
          <a:p>
            <a:r>
              <a:rPr lang="hu-HU" dirty="0"/>
              <a:t>Jogosultságkezelés implementációja</a:t>
            </a:r>
          </a:p>
          <a:p>
            <a:r>
              <a:rPr lang="hu-HU" dirty="0"/>
              <a:t>Csapatmunka, kommunikáció</a:t>
            </a:r>
          </a:p>
          <a:p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266915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1E33D-89EF-9F3A-568C-D6D79C57E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noProof="0" dirty="0"/>
              <a:t>Jövőbeli fejlődési lehetőségek</a:t>
            </a:r>
            <a:endParaRPr lang="hu-HU" noProof="0" dirty="0">
              <a:solidFill>
                <a:srgbClr val="FFFFFF"/>
              </a:solidFill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08132E-5E07-6958-D2DB-0131A46FC6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algn="just"/>
            <a:r>
              <a:rPr lang="hu-HU" noProof="0" dirty="0">
                <a:solidFill>
                  <a:srgbClr val="FFFFFF"/>
                </a:solidFill>
                <a:latin typeface="Neue Haas Grotesk Text Pro"/>
                <a:cs typeface="Times New Roman"/>
              </a:rPr>
              <a:t>Hűségprogram</a:t>
            </a:r>
          </a:p>
          <a:p>
            <a:pPr algn="just"/>
            <a:r>
              <a:rPr lang="hu-HU" noProof="0" dirty="0">
                <a:solidFill>
                  <a:srgbClr val="FFFFFF"/>
                </a:solidFill>
                <a:ea typeface="+mn-lt"/>
                <a:cs typeface="+mn-lt"/>
              </a:rPr>
              <a:t>Készletgazdálkodás</a:t>
            </a:r>
          </a:p>
          <a:p>
            <a:pPr algn="just"/>
            <a:r>
              <a:rPr lang="hu-HU" noProof="0" dirty="0">
                <a:solidFill>
                  <a:srgbClr val="FFFFFF"/>
                </a:solidFill>
                <a:ea typeface="+mn-lt"/>
                <a:cs typeface="+mn-lt"/>
              </a:rPr>
              <a:t>Külső házhozszállítási platformok integrációja</a:t>
            </a:r>
            <a:endParaRPr lang="hu-HU" sz="1200" noProof="0" dirty="0">
              <a:solidFill>
                <a:srgbClr val="FFFFFF"/>
              </a:solidFill>
              <a:latin typeface="Neue Haas Grotesk Text Pro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63427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CAABB-D077-3777-A156-7036E87B6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514" y="1196274"/>
            <a:ext cx="10508603" cy="1734866"/>
          </a:xfrm>
        </p:spPr>
        <p:txBody>
          <a:bodyPr/>
          <a:lstStyle/>
          <a:p>
            <a:r>
              <a:rPr lang="hu-HU" noProof="0" dirty="0">
                <a:ea typeface="+mj-lt"/>
                <a:cs typeface="+mj-lt"/>
              </a:rPr>
              <a:t>Összegzés, kérdések</a:t>
            </a:r>
          </a:p>
        </p:txBody>
      </p:sp>
    </p:spTree>
    <p:extLst>
      <p:ext uri="{BB962C8B-B14F-4D97-AF65-F5344CB8AC3E}">
        <p14:creationId xmlns:p14="http://schemas.microsoft.com/office/powerpoint/2010/main" val="631911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D7A95-9645-30F3-5A7F-F2D770F2E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78400" y="1820486"/>
            <a:ext cx="6117459" cy="2762187"/>
          </a:xfrm>
        </p:spPr>
        <p:txBody>
          <a:bodyPr/>
          <a:lstStyle/>
          <a:p>
            <a:r>
              <a:rPr lang="hu-HU" noProof="0" dirty="0"/>
              <a:t>Köszönjük a figyelmet</a:t>
            </a:r>
          </a:p>
        </p:txBody>
      </p:sp>
    </p:spTree>
    <p:extLst>
      <p:ext uri="{BB962C8B-B14F-4D97-AF65-F5344CB8AC3E}">
        <p14:creationId xmlns:p14="http://schemas.microsoft.com/office/powerpoint/2010/main" val="2626574364"/>
      </p:ext>
    </p:extLst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_win32_Liz_v4" id="{15E0A01B-C0A0-4E33-97EB-A34D3C451DCF}" vid="{FB8E1E66-9252-4554-A1C4-ACC82554D81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TaxCatchAll xmlns="230e9df3-be65-4c73-a93b-d1236ebd677e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ImageTagsTaxHTField xmlns="71af3243-3dd4-4a8d-8c0d-dd76da1f02a5">
      <Terms xmlns="http://schemas.microsoft.com/office/infopath/2007/PartnerControls"/>
    </ImageTagsTaxHTField>
    <MediaServiceKeyPoints xmlns="71af3243-3dd4-4a8d-8c0d-dd76da1f02a5" xsi:nil="true"/>
    <SharedWithUsers xmlns="16c05727-aa75-4e4a-9b5f-8a80a1165891">
      <UserInfo>
        <DisplayName/>
        <AccountId xsi:nil="true"/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8B53938E-C8DA-4DDE-A937-0EA87B476A88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27E2546-C5EB-442C-BCA8-1B0D17D6142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60BF7B2-4A2B-4CA7-8150-68B962AD6E62}">
  <ds:schemaRefs>
    <ds:schemaRef ds:uri="16c05727-aa75-4e4a-9b5f-8a80a1165891"/>
    <ds:schemaRef ds:uri="230e9df3-be65-4c73-a93b-d1236ebd677e"/>
    <ds:schemaRef ds:uri="71af3243-3dd4-4a8d-8c0d-dd76da1f02a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248</Words>
  <Application>Microsoft Office PowerPoint</Application>
  <PresentationFormat>Widescreen</PresentationFormat>
  <Paragraphs>59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Times New Roman</vt:lpstr>
      <vt:lpstr>Film burn</vt:lpstr>
      <vt:lpstr>FastFuel</vt:lpstr>
      <vt:lpstr>PowerPoint Presentation</vt:lpstr>
      <vt:lpstr>A Probléma</vt:lpstr>
      <vt:lpstr>Ki a célközönség? </vt:lpstr>
      <vt:lpstr>Miért a FastFuel?</vt:lpstr>
      <vt:lpstr>Meg nem valósított funkciók</vt:lpstr>
      <vt:lpstr>PowerPoint Presentation</vt:lpstr>
      <vt:lpstr>PowerPoint Presentation</vt:lpstr>
      <vt:lpstr>PowerPoint Presentation</vt:lpstr>
      <vt:lpstr>PowerPoint Presentation</vt:lpstr>
      <vt:lpstr>Kihívások </vt:lpstr>
      <vt:lpstr>Jövőbeli fejlődési lehetőségek</vt:lpstr>
      <vt:lpstr>Összegzés, kérdések</vt:lpstr>
      <vt:lpstr>Köszönjük a figyelmet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Császár Zoltán</dc:creator>
  <cp:lastModifiedBy>Zoltán Császár</cp:lastModifiedBy>
  <cp:revision>168</cp:revision>
  <dcterms:created xsi:type="dcterms:W3CDTF">2026-04-18T10:56:54Z</dcterms:created>
  <dcterms:modified xsi:type="dcterms:W3CDTF">2026-04-19T23:11:58Z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Order">
    <vt:r8>2365000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ComplianceAssetId">
    <vt:lpwstr/>
  </property>
  <property fmtid="{D5CDD505-2E9C-101B-9397-08002B2CF9AE}" pid="8" name="TemplateUrl">
    <vt:lpwstr/>
  </property>
  <property fmtid="{D5CDD505-2E9C-101B-9397-08002B2CF9AE}" pid="9" name="_ExtendedDescription">
    <vt:lpwstr/>
  </property>
  <property fmtid="{D5CDD505-2E9C-101B-9397-08002B2CF9AE}" pid="10" name="TriggerFlowInfo">
    <vt:lpwstr/>
  </property>
</Properties>
</file>