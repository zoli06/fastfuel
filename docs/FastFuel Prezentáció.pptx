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</p:sldMasterIdLst>
  <p:notesMasterIdLst>
    <p:notesMasterId r:id="rId62"/>
  </p:notesMasterIdLst>
  <p:handoutMasterIdLst>
    <p:handoutMasterId r:id="rId63"/>
  </p:handoutMasterIdLst>
  <p:sldIdLst>
    <p:sldId id="442" r:id="rId5"/>
    <p:sldId id="464" r:id="rId6"/>
    <p:sldId id="498" r:id="rId7"/>
    <p:sldId id="499" r:id="rId8"/>
    <p:sldId id="443" r:id="rId9"/>
    <p:sldId id="451" r:id="rId10"/>
    <p:sldId id="444" r:id="rId11"/>
    <p:sldId id="465" r:id="rId12"/>
    <p:sldId id="448" r:id="rId13"/>
    <p:sldId id="501" r:id="rId14"/>
    <p:sldId id="467" r:id="rId15"/>
    <p:sldId id="506" r:id="rId16"/>
    <p:sldId id="496" r:id="rId17"/>
    <p:sldId id="495" r:id="rId18"/>
    <p:sldId id="494" r:id="rId19"/>
    <p:sldId id="508" r:id="rId20"/>
    <p:sldId id="502" r:id="rId21"/>
    <p:sldId id="493" r:id="rId22"/>
    <p:sldId id="509" r:id="rId23"/>
    <p:sldId id="470" r:id="rId24"/>
    <p:sldId id="510" r:id="rId25"/>
    <p:sldId id="471" r:id="rId26"/>
    <p:sldId id="472" r:id="rId27"/>
    <p:sldId id="473" r:id="rId28"/>
    <p:sldId id="474" r:id="rId29"/>
    <p:sldId id="511" r:id="rId30"/>
    <p:sldId id="475" r:id="rId31"/>
    <p:sldId id="477" r:id="rId32"/>
    <p:sldId id="478" r:id="rId33"/>
    <p:sldId id="487" r:id="rId34"/>
    <p:sldId id="479" r:id="rId35"/>
    <p:sldId id="480" r:id="rId36"/>
    <p:sldId id="481" r:id="rId37"/>
    <p:sldId id="482" r:id="rId38"/>
    <p:sldId id="483" r:id="rId39"/>
    <p:sldId id="484" r:id="rId40"/>
    <p:sldId id="504" r:id="rId41"/>
    <p:sldId id="488" r:id="rId42"/>
    <p:sldId id="507" r:id="rId43"/>
    <p:sldId id="486" r:id="rId44"/>
    <p:sldId id="485" r:id="rId45"/>
    <p:sldId id="489" r:id="rId46"/>
    <p:sldId id="490" r:id="rId47"/>
    <p:sldId id="505" r:id="rId48"/>
    <p:sldId id="491" r:id="rId49"/>
    <p:sldId id="492" r:id="rId50"/>
    <p:sldId id="497" r:id="rId51"/>
    <p:sldId id="453" r:id="rId52"/>
    <p:sldId id="466" r:id="rId53"/>
    <p:sldId id="462" r:id="rId54"/>
    <p:sldId id="513" r:id="rId55"/>
    <p:sldId id="512" r:id="rId56"/>
    <p:sldId id="514" r:id="rId57"/>
    <p:sldId id="503" r:id="rId58"/>
    <p:sldId id="463" r:id="rId59"/>
    <p:sldId id="460" r:id="rId60"/>
    <p:sldId id="461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CFC"/>
    <a:srgbClr val="09090C"/>
    <a:srgbClr val="FFFFFF"/>
    <a:srgbClr val="000000"/>
    <a:srgbClr val="9B8C69"/>
    <a:srgbClr val="79958B"/>
    <a:srgbClr val="476262"/>
    <a:srgbClr val="272D2B"/>
    <a:srgbClr val="647E6B"/>
    <a:srgbClr val="A2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6C345E-C2D1-4548-93C0-E1F84274B686}" v="4" dt="2026-04-29T15:48:44.7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5" y="59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handoutMaster" Target="handoutMasters/handoutMaster1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8B6240-78DA-093E-542D-EA8232A522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1978-CD08-4DE4-0B35-D8E00EB982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042AC-E7EB-4533-80AB-C3850196CE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33651-3489-31BD-ED31-0609855FBC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1A6A1-1395-B89B-42E0-2208966D9F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1E2F7-14E3-4821-A409-B7BC1E27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0621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63BC9-3C98-4AB2-8802-02853E289FB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E5B5A-C175-4C17-879C-A25F50F47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2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E5B5A-C175-4C17-879C-A25F50F472D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90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E5B5A-C175-4C17-879C-A25F50F472D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25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6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712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7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35E5011-9B67-D528-E120-F5ABBF8FE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5" r="1082" b="9618"/>
          <a:stretch>
            <a:fillRect/>
          </a:stretch>
        </p:blipFill>
        <p:spPr>
          <a:xfrm>
            <a:off x="-13716" y="0"/>
            <a:ext cx="12205716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9965342-2954-67DF-2693-F39C0B9F8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426598"/>
            <a:ext cx="9942409" cy="671387"/>
          </a:xfrm>
        </p:spPr>
        <p:txBody>
          <a:bodyPr/>
          <a:lstStyle>
            <a:lvl1pPr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EB4B13F-216B-09EA-9E05-12FBA70B8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3" y="1097985"/>
            <a:ext cx="3704199" cy="1035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8793" y="6357493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36185" y="6357493"/>
            <a:ext cx="225864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72F7A5-01BF-4366-9757-1F523CD5236A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57493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5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56372A1-E778-B10F-98CF-995841167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4" t="9400" r="1623" b="307"/>
          <a:stretch>
            <a:fillRect/>
          </a:stretch>
        </p:blipFill>
        <p:spPr>
          <a:xfrm>
            <a:off x="0" y="875"/>
            <a:ext cx="12192000" cy="685712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D2650CC-89A0-A174-E856-05805DBC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356684"/>
            <a:ext cx="6346974" cy="2667527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E66F2C5-A94C-40FD-0A7D-A7D69599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4" y="5266344"/>
            <a:ext cx="3291920" cy="98205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22117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22117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2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and purple light&#10;&#10;AI-generated content may be incorrect.">
            <a:extLst>
              <a:ext uri="{FF2B5EF4-FFF2-40B4-BE49-F238E27FC236}">
                <a16:creationId xmlns:a16="http://schemas.microsoft.com/office/drawing/2014/main" id="{34DC879D-8888-CA20-363B-ADD601ABD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" t="34949" r="91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491" y="2122471"/>
            <a:ext cx="7348909" cy="16726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6399" y="2122470"/>
            <a:ext cx="2052235" cy="167264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284" y="233990"/>
            <a:ext cx="257868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6573"/>
            <a:ext cx="15621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92309C-B050-4356-96E7-0276C1563BD7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0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6116429-CFD9-2016-C240-A97B232DE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1" t="2700" r="25757" b="19631"/>
          <a:stretch>
            <a:fillRect/>
          </a:stretch>
        </p:blipFill>
        <p:spPr>
          <a:xfrm rot="10800000" flipH="1">
            <a:off x="0" y="-1713"/>
            <a:ext cx="1220571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93" y="2705100"/>
            <a:ext cx="11562393" cy="41529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15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3135" y="564350"/>
            <a:ext cx="3645744" cy="9058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9462" y="197680"/>
            <a:ext cx="256177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06100" y="209088"/>
            <a:ext cx="102298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FF4B2E-F868-48E9-9355-A1AA601AAA8B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3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AD7145-734D-256B-1335-1014B6A3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952" cy="3429000"/>
          </a:xfrm>
          <a:gradFill>
            <a:gsLst>
              <a:gs pos="55000">
                <a:srgbClr val="000000">
                  <a:alpha val="53000"/>
                </a:srgbClr>
              </a:gs>
              <a:gs pos="87000">
                <a:srgbClr val="000000">
                  <a:alpha val="63922"/>
                </a:srgbClr>
              </a:gs>
              <a:gs pos="23000">
                <a:srgbClr val="000000">
                  <a:alpha val="0"/>
                </a:srgbClr>
              </a:gs>
            </a:gsLst>
            <a:lin ang="15900000" scaled="0"/>
          </a:gradFill>
        </p:spPr>
        <p:txBody>
          <a:bodyPr lIns="457200" tIns="685800" rIns="5029200" bIns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C312AD0-A2D2-0388-F1F0-E17A9F789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4192" y="-1"/>
            <a:ext cx="3740652" cy="3050627"/>
          </a:xfrm>
        </p:spPr>
        <p:txBody>
          <a:bodyPr vert="horz" lIns="594360" tIns="685800" rIns="320040" bIns="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10065" y="219456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88609" y="215988"/>
            <a:ext cx="555948" cy="3371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23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DC0447-22FD-BF05-BC68-3FDEDEDF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5323784" cy="6858000"/>
          </a:xfrm>
          <a:gradFill>
            <a:gsLst>
              <a:gs pos="41000">
                <a:srgbClr val="000000">
                  <a:alpha val="46000"/>
                </a:srgbClr>
              </a:gs>
              <a:gs pos="71000">
                <a:srgbClr val="000000">
                  <a:alpha val="58000"/>
                </a:srgbClr>
              </a:gs>
              <a:gs pos="100000">
                <a:srgbClr val="000000">
                  <a:alpha val="61000"/>
                </a:srgbClr>
              </a:gs>
              <a:gs pos="10000">
                <a:srgbClr val="000000">
                  <a:alpha val="0"/>
                </a:srgbClr>
              </a:gs>
            </a:gsLst>
            <a:lin ang="10800000" scaled="0"/>
          </a:gradFill>
        </p:spPr>
        <p:txBody>
          <a:bodyPr lIns="457200" tIns="1371600" rIns="822960" bIns="91440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1999F2-A538-F369-DF48-BB68DFFF8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099" y="6032498"/>
            <a:ext cx="4419599" cy="579757"/>
          </a:xfrm>
        </p:spPr>
        <p:txBody>
          <a:bodyPr vert="horz" lIns="91440" tIns="0" rIns="91440" bIns="0" rtlCol="0" anchor="t">
            <a:normAutofit/>
          </a:bodyPr>
          <a:lstStyle>
            <a:lvl1pPr marL="0" indent="0">
              <a:lnSpc>
                <a:spcPct val="120000"/>
              </a:lnSpc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01100" y="213072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5988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0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86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643" y="1114447"/>
            <a:ext cx="5442757" cy="292152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68" y="4993008"/>
            <a:ext cx="3972704" cy="124799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605" y="215057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5989" y="215057"/>
            <a:ext cx="15370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8EA85A9-CA9F-4339-89EF-28F09ED3FE86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909" y="215057"/>
            <a:ext cx="540412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8C1F583-2497-2836-36DF-2076DFFFB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3830" y="1181100"/>
            <a:ext cx="4408170" cy="5701208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44259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872" y="1115568"/>
            <a:ext cx="2960028" cy="36847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4423" y="5004262"/>
            <a:ext cx="2968477" cy="124413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59785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2872" y="219456"/>
            <a:ext cx="155032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D904F51-6E72-42BA-AFA1-975939F2ADF3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129" y="219456"/>
            <a:ext cx="53958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4B0817-C121-ACE0-AD00-44CE392417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181099"/>
            <a:ext cx="8367452" cy="5685213"/>
          </a:xfrm>
          <a:custGeom>
            <a:avLst/>
            <a:gdLst>
              <a:gd name="connsiteX0" fmla="*/ 0 w 6769976"/>
              <a:gd name="connsiteY0" fmla="*/ 0 h 5895164"/>
              <a:gd name="connsiteX1" fmla="*/ 6769976 w 6769976"/>
              <a:gd name="connsiteY1" fmla="*/ 0 h 5895164"/>
              <a:gd name="connsiteX2" fmla="*/ 6769976 w 6769976"/>
              <a:gd name="connsiteY2" fmla="*/ 5895164 h 5895164"/>
              <a:gd name="connsiteX3" fmla="*/ 0 w 6769976"/>
              <a:gd name="connsiteY3" fmla="*/ 5895164 h 589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9976" h="5895164">
                <a:moveTo>
                  <a:pt x="0" y="0"/>
                </a:moveTo>
                <a:lnTo>
                  <a:pt x="6769976" y="0"/>
                </a:lnTo>
                <a:lnTo>
                  <a:pt x="6769976" y="5895164"/>
                </a:lnTo>
                <a:lnTo>
                  <a:pt x="0" y="58951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30262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903" y="4822407"/>
            <a:ext cx="6925432" cy="13513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5224" y="4822406"/>
            <a:ext cx="2724238" cy="135134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78C40B5-A026-132B-C915-2335F94E4A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66900" y="0"/>
            <a:ext cx="10325100" cy="465364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76903" y="6447496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224" y="6451888"/>
            <a:ext cx="1581238" cy="33832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effectLst/>
              </a:defRPr>
            </a:lvl1pPr>
          </a:lstStyle>
          <a:p>
            <a:fld id="{096358FC-80A5-41A4-8D07-88F12E18DF82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0357" y="645188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02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51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pink and purple light&#10;&#10;AI-generated content may be incorrect.">
            <a:extLst>
              <a:ext uri="{FF2B5EF4-FFF2-40B4-BE49-F238E27FC236}">
                <a16:creationId xmlns:a16="http://schemas.microsoft.com/office/drawing/2014/main" id="{B984133B-2ACD-DC2E-DD48-CC86F4063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6416" y="219456"/>
            <a:ext cx="1494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43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1338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AD56A61-7CC3-3597-02EB-CC5DE117DB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8" t="8959" r="915" b="25228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7" y="915709"/>
            <a:ext cx="11404534" cy="1604654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72400" y="2705100"/>
            <a:ext cx="4000500" cy="368202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7234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70317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A44554C-C893-3987-6CAA-1AE3D3275A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r="1" b="13701"/>
          <a:stretch>
            <a:fillRect/>
          </a:stretch>
        </p:blipFill>
        <p:spPr>
          <a:xfrm rot="5400000" flipV="1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762539"/>
            <a:ext cx="3987207" cy="2073091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1993" y="214858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034B68-E20D-4A56-8B99-0EF3081FA97A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1993" y="1762539"/>
            <a:ext cx="3482340" cy="207309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  <a:lvl2pPr marL="228600" indent="0">
              <a:buNone/>
              <a:defRPr lang="en-US" dirty="0">
                <a:solidFill>
                  <a:schemeClr val="tx1"/>
                </a:solidFill>
              </a:defRPr>
            </a:lvl2pPr>
            <a:lvl3pPr marL="457200" indent="0">
              <a:buNone/>
              <a:defRPr lang="en-US" dirty="0">
                <a:solidFill>
                  <a:schemeClr val="tx1"/>
                </a:solidFill>
              </a:defRPr>
            </a:lvl3pPr>
            <a:lvl4pPr marL="685800" indent="0">
              <a:buNone/>
              <a:defRPr lang="en-US" dirty="0">
                <a:solidFill>
                  <a:schemeClr val="tx1"/>
                </a:solidFill>
              </a:defRPr>
            </a:lvl4pPr>
            <a:lvl5pPr marL="914400" indent="0">
              <a:buNone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0158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193FB30-082C-50CD-EEC9-7D410FFB62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257" t="5088" r="86" b="21926"/>
          <a:stretch>
            <a:fillRect/>
          </a:stretch>
        </p:blipFill>
        <p:spPr>
          <a:xfrm flipH="1">
            <a:off x="0" y="0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380" y="1276990"/>
            <a:ext cx="5385079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12904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2904" y="2471736"/>
            <a:ext cx="5385079" cy="349312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8896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9351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A9C84165-A857-83C5-C6BE-C4EB68C906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59"/>
          <a:stretch>
            <a:fillRect/>
          </a:stretch>
        </p:blipFill>
        <p:spPr>
          <a:xfrm flipH="1">
            <a:off x="0" y="2040834"/>
            <a:ext cx="12192000" cy="4817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946412"/>
            <a:ext cx="2971800" cy="3192118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2452852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C06331-6E41-42DD-926E-C670E485C891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38700" y="1946413"/>
            <a:ext cx="5189220" cy="31921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66498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005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8" y="1828800"/>
            <a:ext cx="8496302" cy="1010093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0B0CD9-4253-4E22-9BCD-0DF67297DF8E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6900" y="3168292"/>
            <a:ext cx="8496300" cy="262540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9987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366716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7677" y="214858"/>
            <a:ext cx="1522740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7677" y="1126457"/>
            <a:ext cx="5848423" cy="5121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49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292040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1811877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55523" y="1126457"/>
            <a:ext cx="7503203" cy="5121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76255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4308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7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5467" y="215823"/>
            <a:ext cx="189925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650" y="215823"/>
            <a:ext cx="538545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181100"/>
            <a:ext cx="8356833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15467" y="3646713"/>
            <a:ext cx="2505264" cy="27286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289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53582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07995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906" y="1115568"/>
            <a:ext cx="3608254" cy="138958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4791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7905" y="219456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90D2F5B-FA0B-4BE5-A43F-B1BC737359C6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63D2D48-CE58-FD80-93F7-B87C97B904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7336219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77904" y="2705100"/>
            <a:ext cx="3608255" cy="3733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9711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32533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115568"/>
            <a:ext cx="4643555" cy="16002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47887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399" y="208604"/>
            <a:ext cx="245079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3D817FD-3A47-446D-9853-4CD5CA57130C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4766" y="1181100"/>
            <a:ext cx="5352086" cy="261564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398" y="4055164"/>
            <a:ext cx="5449453" cy="21932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71343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24980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08604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3" y="1106780"/>
            <a:ext cx="8286147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49057" y="4159154"/>
            <a:ext cx="8742943" cy="2698845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708538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4" y="1106780"/>
            <a:ext cx="8408066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4159154"/>
            <a:ext cx="12192000" cy="26988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101644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52135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02" y="1115568"/>
            <a:ext cx="6931698" cy="100283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154" y="216914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84825" y="216914"/>
            <a:ext cx="2338650" cy="338328"/>
          </a:xfrm>
        </p:spPr>
        <p:txBody>
          <a:bodyPr/>
          <a:lstStyle/>
          <a:p>
            <a:fld id="{CDFDD458-C945-484A-9891-FE9FDA97486D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010" y="216914"/>
            <a:ext cx="557090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1601" y="2133600"/>
            <a:ext cx="6931699" cy="4305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6075FF6-E149-1A82-B924-97E715A8DF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82262" y="1184555"/>
            <a:ext cx="4209738" cy="56734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17433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496809" cy="307072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562100" cy="338328"/>
          </a:xfrm>
        </p:spPr>
        <p:txBody>
          <a:bodyPr/>
          <a:lstStyle/>
          <a:p>
            <a:fld id="{94725937-D428-4BAE-A05C-202DA13E49D5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9695" y="1193656"/>
            <a:ext cx="3962400" cy="5664344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23960" y="1122776"/>
            <a:ext cx="2717800" cy="53161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09260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2515758" cy="294642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399" y="214858"/>
            <a:ext cx="1718441" cy="338328"/>
          </a:xfrm>
        </p:spPr>
        <p:txBody>
          <a:bodyPr/>
          <a:lstStyle/>
          <a:p>
            <a:fld id="{709FB1D6-B85F-447E-8712-A80ECD75AAB1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696" y="214858"/>
            <a:ext cx="53852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798" y="1104900"/>
            <a:ext cx="3756213" cy="51435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AC86244-A1E7-A69F-206A-B47C58B746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43347" y="1181100"/>
            <a:ext cx="4348653" cy="567689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71676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37126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9375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071668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586A49A-95E2-7B45-57DD-762AFFF194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" t="-1" r="2873" b="7130"/>
          <a:stretch>
            <a:fillRect/>
          </a:stretch>
        </p:blipFill>
        <p:spPr>
          <a:xfrm rot="10800000" flipH="1" flipV="1">
            <a:off x="0" y="-1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5144654"/>
            <a:ext cx="5435008" cy="129424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000" spc="-5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60BA8B-5FF3-49A6-9895-94F61A8CE576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AAB847-04D8-7C24-A07E-65F280B26D5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4488" y="552450"/>
            <a:ext cx="11498262" cy="3937000"/>
          </a:xfrm>
        </p:spPr>
        <p:txBody>
          <a:bodyPr anchor="b"/>
          <a:lstStyle>
            <a:lvl1pPr>
              <a:defRPr sz="27500"/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7671399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C39E5039-4CEB-24E7-A2E7-F7D46B2D8B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98"/>
            <a:ext cx="12223173" cy="68816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50697A7-9277-BB02-6AE2-42676133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802640"/>
            <a:ext cx="4000500" cy="1137920"/>
          </a:xfrm>
        </p:spPr>
        <p:txBody>
          <a:bodyPr/>
          <a:lstStyle>
            <a:lvl1pPr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DFA7E-E414-422B-ACFF-8C3D6A1A67FB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C871739-B2C5-FF57-BBD7-3F61A35A3F3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58775" y="2684463"/>
            <a:ext cx="11414125" cy="4411662"/>
          </a:xfrm>
        </p:spPr>
        <p:txBody>
          <a:bodyPr lIns="0" tIns="0" rIns="0" bIns="0" anchor="b"/>
          <a:lstStyle>
            <a:lvl1pPr>
              <a:lnSpc>
                <a:spcPct val="85000"/>
              </a:lnSpc>
              <a:defRPr sz="305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9976010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48001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purple light&#10;&#10;AI-generated content may be incorrect.">
            <a:extLst>
              <a:ext uri="{FF2B5EF4-FFF2-40B4-BE49-F238E27FC236}">
                <a16:creationId xmlns:a16="http://schemas.microsoft.com/office/drawing/2014/main" id="{2424DF04-0206-4859-9FB9-6A2579527E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" t="38163" r="27927" b="10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219456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20200" y="219456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68620-47AE-4F32-A04B-1342501F877C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52800" y="1405719"/>
            <a:ext cx="7353300" cy="4012442"/>
          </a:xfrm>
        </p:spPr>
        <p:txBody>
          <a:bodyPr anchor="t">
            <a:norm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3627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6D2715B-CAEE-9AAB-7191-D98012435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" r="1125" b="21235"/>
          <a:stretch>
            <a:fillRect/>
          </a:stretch>
        </p:blipFill>
        <p:spPr>
          <a:xfrm rot="10800000">
            <a:off x="0" y="875"/>
            <a:ext cx="12192000" cy="6857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38700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A8EBD6-625B-484B-BC25-3573CF53D407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8700" y="1740023"/>
            <a:ext cx="6310269" cy="4637725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28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24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57941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133600"/>
            <a:ext cx="9393641" cy="4305299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6026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5703295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027268CA-0348-F6FC-5FB0-87BADE436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2" r="20481"/>
          <a:stretch>
            <a:fillRect/>
          </a:stretch>
        </p:blipFill>
        <p:spPr>
          <a:xfrm rot="5400000" flipH="1">
            <a:off x="2667001" y="-2667001"/>
            <a:ext cx="6858000" cy="12192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92" y="5226427"/>
            <a:ext cx="8382001" cy="837861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CC6FE3-E805-41B1-96EC-B0B83218C881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392" y="2017401"/>
            <a:ext cx="8368707" cy="2981163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7570672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light on a black background&#10;&#10;AI-generated content may be incorrect.">
            <a:extLst>
              <a:ext uri="{FF2B5EF4-FFF2-40B4-BE49-F238E27FC236}">
                <a16:creationId xmlns:a16="http://schemas.microsoft.com/office/drawing/2014/main" id="{F0687863-E84B-D6E2-6049-AF65BB197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115568"/>
            <a:ext cx="12192000" cy="5742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982" y="5029200"/>
            <a:ext cx="8347118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BB5726-A743-47D1-86E4-46BB349D0446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3982" y="1115568"/>
            <a:ext cx="8347118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969310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2439AE8-E053-A902-BEE2-9CECF6AEA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69" t="8943" r="104" b="13677"/>
          <a:stretch>
            <a:fillRect/>
          </a:stretch>
        </p:blipFill>
        <p:spPr>
          <a:xfrm>
            <a:off x="0" y="0"/>
            <a:ext cx="12192000" cy="685712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DFF10A2-0E03-73DB-5224-98043612F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791" y="5151120"/>
            <a:ext cx="5446609" cy="806517"/>
          </a:xfrm>
        </p:spPr>
        <p:txBody>
          <a:bodyPr anchor="ctr"/>
          <a:lstStyle>
            <a:lvl1pPr>
              <a:defRPr sz="1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F47579-571B-45A3-BDCA-E2964689F659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01541"/>
            <a:ext cx="7342632" cy="3397064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758923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671787"/>
            <a:ext cx="7179129" cy="102870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6E2CA6-CB6A-465C-BAA7-384FD497485D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5" y="1623265"/>
            <a:ext cx="7179130" cy="3048522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230738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16423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9838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2946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3252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363393" cy="13716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95C13-5B9F-4AD1-A2E2-FB0B577AF6CA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393" y="2563585"/>
            <a:ext cx="3363393" cy="3684815"/>
          </a:xfrm>
        </p:spPr>
        <p:txBody>
          <a:bodyPr anchor="b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8700" y="1104900"/>
            <a:ext cx="6934200" cy="52012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  <a:lvl2pPr>
              <a:defRPr lang="en-US" sz="1200" dirty="0">
                <a:solidFill>
                  <a:schemeClr val="tx1"/>
                </a:solidFill>
              </a:defRPr>
            </a:lvl2pPr>
            <a:lvl3pPr>
              <a:defRPr lang="en-US" sz="12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98671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104901"/>
            <a:ext cx="2932434" cy="16002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01692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9456"/>
            <a:ext cx="142984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189146-EED2-4B95-95A3-EC3C7CBF180D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7593" y="216280"/>
            <a:ext cx="56063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6900" y="3345180"/>
            <a:ext cx="2620859" cy="309372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723B90-4D46-48FC-60FC-714099462E4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24129" y="1104900"/>
            <a:ext cx="7267870" cy="5753100"/>
          </a:xfrm>
          <a:custGeom>
            <a:avLst/>
            <a:gdLst>
              <a:gd name="connsiteX0" fmla="*/ 0 w 7353300"/>
              <a:gd name="connsiteY0" fmla="*/ 0 h 5901550"/>
              <a:gd name="connsiteX1" fmla="*/ 7353300 w 7353300"/>
              <a:gd name="connsiteY1" fmla="*/ 0 h 5901550"/>
              <a:gd name="connsiteX2" fmla="*/ 7353300 w 7353300"/>
              <a:gd name="connsiteY2" fmla="*/ 5901550 h 5901550"/>
              <a:gd name="connsiteX3" fmla="*/ 0 w 7353300"/>
              <a:gd name="connsiteY3" fmla="*/ 5901550 h 590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3300" h="5901550">
                <a:moveTo>
                  <a:pt x="0" y="0"/>
                </a:moveTo>
                <a:lnTo>
                  <a:pt x="7353300" y="0"/>
                </a:lnTo>
                <a:lnTo>
                  <a:pt x="7353300" y="5901550"/>
                </a:lnTo>
                <a:lnTo>
                  <a:pt x="0" y="590155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475306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09825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820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59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733" r:id="rId3"/>
    <p:sldLayoutId id="2147483657" r:id="rId4"/>
    <p:sldLayoutId id="2147483744" r:id="rId5"/>
    <p:sldLayoutId id="2147483658" r:id="rId6"/>
    <p:sldLayoutId id="2147483732" r:id="rId7"/>
    <p:sldLayoutId id="2147483741" r:id="rId8"/>
    <p:sldLayoutId id="2147483760" r:id="rId9"/>
    <p:sldLayoutId id="2147483745" r:id="rId10"/>
    <p:sldLayoutId id="2147483654" r:id="rId11"/>
    <p:sldLayoutId id="2147483759" r:id="rId12"/>
    <p:sldLayoutId id="2147483707" r:id="rId13"/>
    <p:sldLayoutId id="2147483659" r:id="rId14"/>
    <p:sldLayoutId id="2147483764" r:id="rId15"/>
    <p:sldLayoutId id="2147483660" r:id="rId16"/>
    <p:sldLayoutId id="2147483765" r:id="rId17"/>
    <p:sldLayoutId id="2147483661" r:id="rId18"/>
    <p:sldLayoutId id="2147483662" r:id="rId19"/>
    <p:sldLayoutId id="2147483742" r:id="rId20"/>
    <p:sldLayoutId id="2147483746" r:id="rId21"/>
    <p:sldLayoutId id="2147483664" r:id="rId22"/>
    <p:sldLayoutId id="2147483663" r:id="rId23"/>
    <p:sldLayoutId id="2147483743" r:id="rId24"/>
    <p:sldLayoutId id="2147483666" r:id="rId25"/>
    <p:sldLayoutId id="2147483769" r:id="rId26"/>
    <p:sldLayoutId id="2147483676" r:id="rId27"/>
    <p:sldLayoutId id="2147483758" r:id="rId28"/>
    <p:sldLayoutId id="2147483680" r:id="rId29"/>
    <p:sldLayoutId id="2147483734" r:id="rId30"/>
    <p:sldLayoutId id="2147483671" r:id="rId31"/>
    <p:sldLayoutId id="2147483751" r:id="rId32"/>
    <p:sldLayoutId id="2147483675" r:id="rId33"/>
    <p:sldLayoutId id="2147483703" r:id="rId34"/>
    <p:sldLayoutId id="2147483752" r:id="rId35"/>
    <p:sldLayoutId id="2147483737" r:id="rId36"/>
    <p:sldLayoutId id="2147483753" r:id="rId37"/>
    <p:sldLayoutId id="2147483674" r:id="rId38"/>
    <p:sldLayoutId id="2147483702" r:id="rId39"/>
    <p:sldLayoutId id="2147483670" r:id="rId40"/>
    <p:sldLayoutId id="2147483735" r:id="rId41"/>
    <p:sldLayoutId id="2147483669" r:id="rId42"/>
    <p:sldLayoutId id="2147483682" r:id="rId43"/>
    <p:sldLayoutId id="2147483719" r:id="rId44"/>
    <p:sldLayoutId id="2147483686" r:id="rId45"/>
    <p:sldLayoutId id="2147483720" r:id="rId46"/>
    <p:sldLayoutId id="2147483768" r:id="rId47"/>
    <p:sldLayoutId id="2147483710" r:id="rId48"/>
    <p:sldLayoutId id="2147483729" r:id="rId49"/>
    <p:sldLayoutId id="2147483730" r:id="rId50"/>
    <p:sldLayoutId id="2147483713" r:id="rId51"/>
    <p:sldLayoutId id="2147483693" r:id="rId52"/>
    <p:sldLayoutId id="2147483690" r:id="rId53"/>
    <p:sldLayoutId id="2147483726" r:id="rId54"/>
    <p:sldLayoutId id="2147483691" r:id="rId55"/>
    <p:sldLayoutId id="2147483694" r:id="rId56"/>
    <p:sldLayoutId id="2147483695" r:id="rId57"/>
    <p:sldLayoutId id="2147483696" r:id="rId58"/>
    <p:sldLayoutId id="2147483697" r:id="rId59"/>
    <p:sldLayoutId id="2147483698" r:id="rId60"/>
    <p:sldLayoutId id="2147483699" r:id="rId61"/>
    <p:sldLayoutId id="2147483700" r:id="rId62"/>
    <p:sldLayoutId id="2147483701" r:id="rId63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 userDrawn="1">
          <p15:clr>
            <a:srgbClr val="F26B43"/>
          </p15:clr>
        </p15:guide>
        <p15:guide id="4" orient="horz" pos="264" userDrawn="1">
          <p15:clr>
            <a:srgbClr val="F26B43"/>
          </p15:clr>
        </p15:guide>
        <p15:guide id="5" pos="7416" userDrawn="1">
          <p15:clr>
            <a:srgbClr val="F26B43"/>
          </p15:clr>
        </p15:guide>
        <p15:guide id="12" pos="4632" userDrawn="1">
          <p15:clr>
            <a:srgbClr val="F26B43"/>
          </p15:clr>
        </p15:guide>
        <p15:guide id="13" pos="5544" userDrawn="1">
          <p15:clr>
            <a:srgbClr val="F26B43"/>
          </p15:clr>
        </p15:guide>
        <p15:guide id="26" pos="2784" userDrawn="1">
          <p15:clr>
            <a:srgbClr val="F26B43"/>
          </p15:clr>
        </p15:guide>
        <p15:guide id="27" pos="3048" userDrawn="1">
          <p15:clr>
            <a:srgbClr val="F26B43"/>
          </p15:clr>
        </p15:guide>
        <p15:guide id="29" pos="3960" userDrawn="1">
          <p15:clr>
            <a:srgbClr val="F26B43"/>
          </p15:clr>
        </p15:guide>
        <p15:guide id="30" pos="1176" userDrawn="1">
          <p15:clr>
            <a:srgbClr val="F26B43"/>
          </p15:clr>
        </p15:guide>
        <p15:guide id="31" pos="912" userDrawn="1">
          <p15:clr>
            <a:srgbClr val="F26B43"/>
          </p15:clr>
        </p15:guide>
        <p15:guide id="32" pos="3696" userDrawn="1">
          <p15:clr>
            <a:srgbClr val="F26B43"/>
          </p15:clr>
        </p15:guide>
        <p15:guide id="33" pos="1848" userDrawn="1">
          <p15:clr>
            <a:srgbClr val="F26B43"/>
          </p15:clr>
        </p15:guide>
        <p15:guide id="34" pos="2112" userDrawn="1">
          <p15:clr>
            <a:srgbClr val="F26B43"/>
          </p15:clr>
        </p15:guide>
        <p15:guide id="36" pos="6528" userDrawn="1">
          <p15:clr>
            <a:srgbClr val="F26B43"/>
          </p15:clr>
        </p15:guide>
        <p15:guide id="37" pos="6744" userDrawn="1">
          <p15:clr>
            <a:srgbClr val="F26B43"/>
          </p15:clr>
        </p15:guide>
        <p15:guide id="42" orient="horz" pos="3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EA4D2C-4D5C-AC28-D8CC-859AFF9DB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/>
          <a:lstStyle/>
          <a:p>
            <a:r>
              <a:rPr lang="hu-HU" noProof="0"/>
              <a:t>FastFuel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B102265-8990-D1BC-A9F2-66CA9D922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842056"/>
          </a:xfrm>
        </p:spPr>
        <p:txBody>
          <a:bodyPr>
            <a:normAutofit fontScale="92500"/>
          </a:bodyPr>
          <a:lstStyle/>
          <a:p>
            <a:r>
              <a:rPr lang="hu-HU" noProof="0">
                <a:ea typeface="+mn-lt"/>
                <a:cs typeface="+mn-lt"/>
              </a:rPr>
              <a:t>Központosított étteremlánc-kezelő </a:t>
            </a:r>
            <a:r>
              <a:rPr lang="hu-HU">
                <a:ea typeface="+mn-lt"/>
                <a:cs typeface="+mn-lt"/>
              </a:rPr>
              <a:t>rendszer</a:t>
            </a:r>
          </a:p>
          <a:p>
            <a:r>
              <a:rPr lang="hu-HU"/>
              <a:t>By: </a:t>
            </a:r>
            <a:br>
              <a:rPr lang="hu-HU"/>
            </a:br>
            <a:r>
              <a:rPr lang="en-GB"/>
              <a:t>-</a:t>
            </a:r>
            <a:r>
              <a:rPr lang="en-GB" err="1"/>
              <a:t>Tircsi</a:t>
            </a:r>
            <a:r>
              <a:rPr lang="en-GB"/>
              <a:t> Kolos</a:t>
            </a:r>
            <a:endParaRPr lang="hu-HU"/>
          </a:p>
          <a:p>
            <a:r>
              <a:rPr lang="en-GB"/>
              <a:t>-Császár Zoltán</a:t>
            </a:r>
          </a:p>
          <a:p>
            <a:r>
              <a:rPr lang="en-GB"/>
              <a:t>-Massman Noah James</a:t>
            </a:r>
          </a:p>
        </p:txBody>
      </p:sp>
    </p:spTree>
    <p:extLst>
      <p:ext uri="{BB962C8B-B14F-4D97-AF65-F5344CB8AC3E}">
        <p14:creationId xmlns:p14="http://schemas.microsoft.com/office/powerpoint/2010/main" val="148904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A49D3-F5D2-EEBF-ECE1-BBE63EC8ED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solidFill>
                  <a:srgbClr val="FFFFFF"/>
                </a:solidFill>
              </a:rPr>
              <a:t>Bevezetés </a:t>
            </a:r>
            <a:r>
              <a:rPr lang="en-GB" err="1">
                <a:solidFill>
                  <a:srgbClr val="FFFFFF"/>
                </a:solidFill>
              </a:rPr>
              <a:t>és</a:t>
            </a:r>
            <a:r>
              <a:rPr lang="en-GB">
                <a:solidFill>
                  <a:srgbClr val="FFFFFF"/>
                </a:solidFill>
              </a:rPr>
              <a:t> Üzleti Logika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871873-62DE-60A4-52E6-2E218226B4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54CC9-6173-6E32-8FF7-1E5F49BE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36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AD7D-F912-E196-8E66-DDC53082B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err="1">
                <a:ea typeface="+mj-lt"/>
                <a:cs typeface="+mj-lt"/>
              </a:rPr>
              <a:t>Üzleti</a:t>
            </a:r>
            <a:r>
              <a:rPr lang="en-GB" b="1">
                <a:ea typeface="+mj-lt"/>
                <a:cs typeface="+mj-lt"/>
              </a:rPr>
              <a:t> </a:t>
            </a:r>
            <a:r>
              <a:rPr lang="en-GB" b="1" err="1">
                <a:ea typeface="+mj-lt"/>
                <a:cs typeface="+mj-lt"/>
              </a:rPr>
              <a:t>és</a:t>
            </a:r>
            <a:r>
              <a:rPr lang="en-GB" b="1">
                <a:ea typeface="+mj-lt"/>
                <a:cs typeface="+mj-lt"/>
              </a:rPr>
              <a:t> </a:t>
            </a:r>
            <a:r>
              <a:rPr lang="en-GB" b="1" err="1">
                <a:ea typeface="+mj-lt"/>
                <a:cs typeface="+mj-lt"/>
              </a:rPr>
              <a:t>felhasználói</a:t>
            </a:r>
            <a:r>
              <a:rPr lang="en-GB" b="1">
                <a:ea typeface="+mj-lt"/>
                <a:cs typeface="+mj-lt"/>
              </a:rPr>
              <a:t> </a:t>
            </a:r>
            <a:r>
              <a:rPr lang="en-GB" b="1" err="1">
                <a:ea typeface="+mj-lt"/>
                <a:cs typeface="+mj-lt"/>
              </a:rPr>
              <a:t>folyamat</a:t>
            </a:r>
            <a:r>
              <a:rPr lang="en-GB">
                <a:ea typeface="+mj-lt"/>
                <a:cs typeface="+mj-lt"/>
              </a:rPr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98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B67F-2FEA-A16B-F25F-1DF24A8E8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xplore McDonald's Kitchen - NAV3D">
            <a:extLst>
              <a:ext uri="{FF2B5EF4-FFF2-40B4-BE49-F238E27FC236}">
                <a16:creationId xmlns:a16="http://schemas.microsoft.com/office/drawing/2014/main" id="{14EFF657-1DA8-D60D-0E91-12DB5E512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43947-04D5-D8DA-4882-9CB789F31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F9A0-3C8C-0EE3-56BB-D3F48BB1B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/>
              <a:t>A Probléma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A21EF-FFD1-3E32-1255-257F89F52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800" noProof="0">
                <a:ea typeface="+mn-lt"/>
                <a:cs typeface="+mn-lt"/>
              </a:rPr>
              <a:t>A FastFuel rendszer több problémát is képes megoldani egy kisebb étteremlánc számára</a:t>
            </a:r>
            <a:endParaRPr lang="hu-HU" sz="1800" noProof="0"/>
          </a:p>
          <a:p>
            <a:pPr marL="285750" indent="-285750">
              <a:buFont typeface="Arial"/>
              <a:buChar char="•"/>
            </a:pPr>
            <a:r>
              <a:rPr lang="hu-HU" sz="1800" noProof="0">
                <a:ea typeface="+mn-lt"/>
                <a:cs typeface="+mn-lt"/>
              </a:rPr>
              <a:t>Kaotikus, papíralapú munkafolyamatokat leegyszerűsíti</a:t>
            </a:r>
            <a:endParaRPr lang="hu-HU" noProof="0"/>
          </a:p>
          <a:p>
            <a:pPr marL="285750" indent="-285750">
              <a:buFont typeface="Arial"/>
              <a:buChar char="•"/>
            </a:pPr>
            <a:r>
              <a:rPr lang="hu-HU" sz="1800" noProof="0">
                <a:ea typeface="+mn-lt"/>
                <a:cs typeface="+mn-lt"/>
              </a:rPr>
              <a:t>Lassú konyhai kommunikációt felgyorsítja</a:t>
            </a:r>
            <a:endParaRPr lang="hu-HU" noProof="0"/>
          </a:p>
          <a:p>
            <a:pPr marL="285750" indent="-285750">
              <a:buFont typeface="Arial"/>
              <a:buChar char="•"/>
            </a:pPr>
            <a:r>
              <a:rPr lang="hu-HU" sz="1800" noProof="0"/>
              <a:t>Javítja a vendégélményt</a:t>
            </a:r>
          </a:p>
          <a:p>
            <a:endParaRPr lang="hu-HU" sz="1800" noProof="0"/>
          </a:p>
        </p:txBody>
      </p:sp>
    </p:spTree>
    <p:extLst>
      <p:ext uri="{BB962C8B-B14F-4D97-AF65-F5344CB8AC3E}">
        <p14:creationId xmlns:p14="http://schemas.microsoft.com/office/powerpoint/2010/main" val="427447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0EF2D-D9BF-304F-EC57-11ADDEEB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/>
              <a:t>Ki a célközönség?</a:t>
            </a:r>
            <a:endParaRPr lang="hu-HU" noProof="0">
              <a:solidFill>
                <a:srgbClr val="000000"/>
              </a:solidFill>
            </a:endParaRPr>
          </a:p>
          <a:p>
            <a:endParaRPr lang="hu-HU" noProof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E6F0DB-797B-4D56-082E-01B5F0D04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668523" cy="36627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000" noProof="0">
                <a:ea typeface="+mn-lt"/>
                <a:cs typeface="+mn-lt"/>
              </a:rPr>
              <a:t>A projekt egy 5-10 étteremből álló étteremláncnak lett szánva, ami szeretné a teljes munkafolyamat digitalizálni </a:t>
            </a:r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2228423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016AE-4BEF-993E-2702-DB4ED19E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/>
              <a:t>Miért a FastFuel?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BA6C84-C8FE-591F-855B-4D3CC29A1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600" noProof="0">
                <a:latin typeface="Times New Roman"/>
                <a:cs typeface="Times New Roman"/>
              </a:rPr>
              <a:t>Az étlap kezelés</a:t>
            </a:r>
            <a:r>
              <a:rPr lang="en-US" sz="1600" noProof="0">
                <a:latin typeface="Times New Roman"/>
                <a:cs typeface="Times New Roman"/>
              </a:rPr>
              <a:t>e</a:t>
            </a:r>
          </a:p>
          <a:p>
            <a:r>
              <a:rPr lang="hu-HU" sz="1600" noProof="0">
                <a:latin typeface="Times New Roman"/>
                <a:cs typeface="Times New Roman"/>
              </a:rPr>
              <a:t>A rendelések felvétel</a:t>
            </a:r>
            <a:r>
              <a:rPr lang="en-US" sz="1600" noProof="0">
                <a:latin typeface="Times New Roman"/>
                <a:cs typeface="Times New Roman"/>
              </a:rPr>
              <a:t>e</a:t>
            </a:r>
            <a:endParaRPr lang="hu-HU" sz="1600" noProof="0">
              <a:latin typeface="Times New Roman"/>
              <a:cs typeface="Times New Roman"/>
            </a:endParaRPr>
          </a:p>
          <a:p>
            <a:r>
              <a:rPr lang="hu-HU" sz="1600" noProof="0">
                <a:latin typeface="Times New Roman"/>
                <a:cs typeface="Times New Roman"/>
              </a:rPr>
              <a:t>A konyhai feladatok automatikus szétosztás</a:t>
            </a:r>
            <a:r>
              <a:rPr lang="en-US" sz="1600" noProof="0">
                <a:latin typeface="Times New Roman"/>
                <a:cs typeface="Times New Roman"/>
              </a:rPr>
              <a:t>a</a:t>
            </a:r>
          </a:p>
          <a:p>
            <a:r>
              <a:rPr lang="hu-HU" sz="1600" noProof="0">
                <a:latin typeface="Times New Roman"/>
                <a:cs typeface="Times New Roman"/>
              </a:rPr>
              <a:t>A dolgozók konyhai állomásokra való betanításának nyilvántartás</a:t>
            </a:r>
            <a:r>
              <a:rPr lang="en-US" sz="1600" noProof="0">
                <a:latin typeface="Times New Roman"/>
                <a:cs typeface="Times New Roman"/>
              </a:rPr>
              <a:t>a</a:t>
            </a:r>
            <a:endParaRPr lang="hu-HU" sz="1600" noProof="0">
              <a:latin typeface="Times New Roman"/>
              <a:cs typeface="Times New Roman"/>
            </a:endParaRPr>
          </a:p>
          <a:p>
            <a:r>
              <a:rPr lang="hu-HU" sz="1600" noProof="0">
                <a:latin typeface="Times New Roman"/>
                <a:cs typeface="Times New Roman"/>
              </a:rPr>
              <a:t>A rendelési állapot valós idejű megjelenítés</a:t>
            </a:r>
            <a:r>
              <a:rPr lang="en-US" sz="1600" noProof="0">
                <a:latin typeface="Times New Roman"/>
                <a:cs typeface="Times New Roman"/>
              </a:rPr>
              <a:t>e</a:t>
            </a:r>
            <a:r>
              <a:rPr lang="hu-HU" sz="1600" noProof="0">
                <a:latin typeface="Times New Roman"/>
                <a:cs typeface="Times New Roman"/>
              </a:rPr>
              <a:t> a vendégek számára</a:t>
            </a:r>
          </a:p>
          <a:p>
            <a:r>
              <a:rPr lang="hu-HU" sz="1600" noProof="0">
                <a:latin typeface="Times New Roman"/>
                <a:cs typeface="Times New Roman"/>
              </a:rPr>
              <a:t>A műszakbeosztás kezelés</a:t>
            </a:r>
            <a:r>
              <a:rPr lang="en-US" sz="1600" noProof="0">
                <a:latin typeface="Times New Roman"/>
                <a:cs typeface="Times New Roman"/>
              </a:rPr>
              <a:t>e</a:t>
            </a:r>
          </a:p>
          <a:p>
            <a:r>
              <a:rPr lang="hu-HU" sz="1600" noProof="0">
                <a:latin typeface="Times New Roman"/>
                <a:cs typeface="Times New Roman"/>
              </a:rPr>
              <a:t>Az egyes éttermekhez tartozó adatok nyilvántartás</a:t>
            </a:r>
            <a:r>
              <a:rPr lang="en-US" sz="1600" noProof="0">
                <a:latin typeface="Times New Roman"/>
                <a:cs typeface="Times New Roman"/>
              </a:rPr>
              <a:t>a</a:t>
            </a:r>
            <a:endParaRPr lang="hu-HU" sz="1600" noProof="0">
              <a:latin typeface="Times New Roman"/>
              <a:cs typeface="Times New Roman"/>
            </a:endParaRPr>
          </a:p>
          <a:p>
            <a:r>
              <a:rPr lang="hu-HU" sz="1600" noProof="0">
                <a:latin typeface="Times New Roman"/>
                <a:cs typeface="Times New Roman"/>
              </a:rPr>
              <a:t>A felhasználók </a:t>
            </a:r>
            <a:r>
              <a:rPr lang="hu-HU" sz="1600" noProof="0" err="1">
                <a:latin typeface="Times New Roman"/>
                <a:cs typeface="Times New Roman"/>
              </a:rPr>
              <a:t>regisztrációj</a:t>
            </a:r>
            <a:r>
              <a:rPr lang="en-US" sz="1600" noProof="0">
                <a:latin typeface="Times New Roman"/>
                <a:cs typeface="Times New Roman"/>
              </a:rPr>
              <a:t>a</a:t>
            </a:r>
            <a:r>
              <a:rPr lang="hu-HU" sz="1600" noProof="0">
                <a:latin typeface="Times New Roman"/>
                <a:cs typeface="Times New Roman"/>
              </a:rPr>
              <a:t> és kezelés</a:t>
            </a:r>
            <a:r>
              <a:rPr lang="en-US" sz="1600" noProof="0">
                <a:latin typeface="Times New Roman"/>
                <a:cs typeface="Times New Roman"/>
              </a:rPr>
              <a:t>e</a:t>
            </a:r>
            <a:r>
              <a:rPr lang="hu-HU" sz="1600" noProof="0">
                <a:latin typeface="Times New Roman"/>
                <a:cs typeface="Times New Roman"/>
              </a:rPr>
              <a:t> típusok szerint,</a:t>
            </a:r>
          </a:p>
          <a:p>
            <a:r>
              <a:rPr lang="hu-HU" sz="1600" noProof="0">
                <a:latin typeface="Times New Roman"/>
                <a:cs typeface="Times New Roman"/>
              </a:rPr>
              <a:t>A tetszőleges számú szerepkör létrehozását és jogosultságok szabályozás</a:t>
            </a:r>
            <a:r>
              <a:rPr lang="en-US" sz="1600" noProof="0">
                <a:latin typeface="Times New Roman"/>
                <a:cs typeface="Times New Roman"/>
              </a:rPr>
              <a:t>a</a:t>
            </a:r>
            <a:endParaRPr lang="hu-HU" sz="1600" noProof="0">
              <a:latin typeface="Times New Roman"/>
              <a:cs typeface="Times New Roman"/>
            </a:endParaRPr>
          </a:p>
          <a:p>
            <a:pPr algn="r"/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12992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7FA87-0AFB-FD45-6D18-C5BD7477C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03C4-1407-FDE2-C2EF-3D81CBABB1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9600" dirty="0" err="1">
                <a:solidFill>
                  <a:srgbClr val="FFFFFF"/>
                </a:solidFill>
                <a:ea typeface="+mj-lt"/>
                <a:cs typeface="+mj-lt"/>
              </a:rPr>
              <a:t>Technológi</a:t>
            </a:r>
            <a:r>
              <a:rPr lang="hu-HU" sz="9600" dirty="0" err="1">
                <a:solidFill>
                  <a:srgbClr val="FFFFFF"/>
                </a:solidFill>
                <a:ea typeface="+mj-lt"/>
                <a:cs typeface="+mj-lt"/>
              </a:rPr>
              <a:t>ák</a:t>
            </a:r>
            <a:r>
              <a:rPr lang="en-GB" sz="9600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BDDA2-76D8-947A-C3AB-57E930FEB1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4A1DE-3C0B-4ED0-8FDF-FD8901DDC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9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18AA66-94E6-CD41-F1FF-B4854533E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90511"/>
              </p:ext>
            </p:extLst>
          </p:nvPr>
        </p:nvGraphicFramePr>
        <p:xfrm>
          <a:off x="851647" y="1467970"/>
          <a:ext cx="9908454" cy="3558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818">
                  <a:extLst>
                    <a:ext uri="{9D8B030D-6E8A-4147-A177-3AD203B41FA5}">
                      <a16:colId xmlns:a16="http://schemas.microsoft.com/office/drawing/2014/main" val="2636108267"/>
                    </a:ext>
                  </a:extLst>
                </a:gridCol>
                <a:gridCol w="3302818">
                  <a:extLst>
                    <a:ext uri="{9D8B030D-6E8A-4147-A177-3AD203B41FA5}">
                      <a16:colId xmlns:a16="http://schemas.microsoft.com/office/drawing/2014/main" val="1571856150"/>
                    </a:ext>
                  </a:extLst>
                </a:gridCol>
                <a:gridCol w="3302818">
                  <a:extLst>
                    <a:ext uri="{9D8B030D-6E8A-4147-A177-3AD203B41FA5}">
                      <a16:colId xmlns:a16="http://schemas.microsoft.com/office/drawing/2014/main" val="3244019609"/>
                    </a:ext>
                  </a:extLst>
                </a:gridCol>
              </a:tblGrid>
              <a:tr h="372717">
                <a:tc>
                  <a:txBody>
                    <a:bodyPr/>
                    <a:lstStyle/>
                    <a:p>
                      <a:pPr algn="ctr"/>
                      <a:r>
                        <a:rPr lang="hu-HU" noProof="0"/>
                        <a:t>Adatbázis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noProof="0"/>
                        <a:t>Backend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noProof="0"/>
                        <a:t>Frontend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762271"/>
                  </a:ext>
                </a:extLst>
              </a:tr>
              <a:tr h="2271312">
                <a:tc>
                  <a:txBody>
                    <a:bodyPr/>
                    <a:lstStyle/>
                    <a:p>
                      <a:pPr marL="0" lvl="0" indent="0" algn="l">
                        <a:buFont typeface="Arial"/>
                        <a:buNone/>
                      </a:pPr>
                      <a:r>
                        <a:rPr lang="hu-HU" sz="1600" b="0" i="0" u="none" strike="noStrike" noProof="0">
                          <a:solidFill>
                            <a:srgbClr val="000000"/>
                          </a:solidFill>
                          <a:latin typeface="Neue Haas Grotesk Text Pro"/>
                          <a:cs typeface="Times New Roman"/>
                        </a:rPr>
                        <a:t>MariaDB</a:t>
                      </a:r>
                      <a:endParaRPr lang="hu-HU" sz="1600" noProof="0">
                        <a:latin typeface="Neue Haas Grotesk Text Pro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Font typeface="Arial"/>
                        <a:buNone/>
                      </a:pPr>
                      <a:r>
                        <a:rPr lang="hu-HU" sz="1600" b="0" i="0" u="none" strike="noStrike" noProof="0">
                          <a:solidFill>
                            <a:srgbClr val="000000"/>
                          </a:solidFill>
                          <a:latin typeface="Neue Haas Grotesk Text Pro"/>
                          <a:cs typeface="Times New Roman"/>
                        </a:rPr>
                        <a:t>C#</a:t>
                      </a:r>
                      <a:endParaRPr lang="hu-HU" sz="1600" noProof="0">
                        <a:latin typeface="Neue Haas Grotesk Text Pro"/>
                      </a:endParaRPr>
                    </a:p>
                    <a:p>
                      <a:pPr marL="0" lvl="0" indent="0" algn="l">
                        <a:buFont typeface="Arial"/>
                        <a:buNone/>
                      </a:pPr>
                      <a:r>
                        <a:rPr lang="hu-HU" sz="1600" b="0" i="0" u="none" strike="noStrike" noProof="0">
                          <a:solidFill>
                            <a:srgbClr val="000000"/>
                          </a:solidFill>
                          <a:latin typeface="Neue Haas Grotesk Text Pro"/>
                          <a:cs typeface="Times New Roman"/>
                        </a:rPr>
                        <a:t>EF Core</a:t>
                      </a:r>
                      <a:endParaRPr lang="hu-HU" sz="1600" noProof="0">
                        <a:latin typeface="Neue Haas Grotesk Text Pro"/>
                      </a:endParaRPr>
                    </a:p>
                    <a:p>
                      <a:pPr marL="0" lvl="0" indent="0" algn="l">
                        <a:buFont typeface="Arial"/>
                        <a:buNone/>
                      </a:pPr>
                      <a:r>
                        <a:rPr lang="hu-HU" sz="1600" b="0" i="0" u="none" strike="noStrike" noProof="0">
                          <a:solidFill>
                            <a:srgbClr val="000000"/>
                          </a:solidFill>
                          <a:latin typeface="Neue Haas Grotesk Text Pro"/>
                          <a:cs typeface="Times New Roman"/>
                        </a:rPr>
                        <a:t>ASP.NET Core</a:t>
                      </a:r>
                      <a:endParaRPr lang="hu-HU" sz="1600" noProof="0">
                        <a:latin typeface="Neue Haas Grotesk Text Pro"/>
                      </a:endParaRPr>
                    </a:p>
                    <a:p>
                      <a:pPr marL="0" lvl="0" indent="0" algn="l">
                        <a:buFont typeface="Arial"/>
                        <a:buNone/>
                      </a:pPr>
                      <a:r>
                        <a:rPr lang="hu-HU" sz="1600" b="0" i="0" u="none" strike="noStrike" noProof="0">
                          <a:solidFill>
                            <a:srgbClr val="000000"/>
                          </a:solidFill>
                          <a:latin typeface="Neue Haas Grotesk Text Pro"/>
                          <a:cs typeface="Times New Roman"/>
                        </a:rPr>
                        <a:t>OpenAPI</a:t>
                      </a:r>
                      <a:endParaRPr lang="hu-HU" sz="1600" noProof="0">
                        <a:latin typeface="Neue Haas Grotesk Text Pro"/>
                      </a:endParaRPr>
                    </a:p>
                    <a:p>
                      <a:pPr marL="0" lvl="0" indent="0" algn="l">
                        <a:buFont typeface="Arial"/>
                        <a:buNone/>
                      </a:pPr>
                      <a:r>
                        <a:rPr lang="hu-HU" sz="1600" b="0" i="0" u="none" strike="noStrike" noProof="0">
                          <a:solidFill>
                            <a:srgbClr val="000000"/>
                          </a:solidFill>
                          <a:latin typeface="Neue Haas Grotesk Text Pro"/>
                          <a:cs typeface="Times New Roman"/>
                        </a:rPr>
                        <a:t>Swagger UI</a:t>
                      </a:r>
                    </a:p>
                    <a:p>
                      <a:pPr marL="0" lvl="0" indent="0" algn="l">
                        <a:buFont typeface="Arial"/>
                        <a:buNone/>
                      </a:pPr>
                      <a:r>
                        <a:rPr lang="hu-HU" sz="1600" b="0" i="0" u="none" strike="noStrike" noProof="0" err="1">
                          <a:solidFill>
                            <a:srgbClr val="000000"/>
                          </a:solidFill>
                          <a:latin typeface="Neue Haas Grotesk Text Pro"/>
                          <a:cs typeface="Times New Roman"/>
                        </a:rPr>
                        <a:t>TestContainers</a:t>
                      </a:r>
                      <a:endParaRPr lang="hu-HU" sz="1600" b="0" i="0" u="none" strike="noStrike" noProof="0">
                        <a:solidFill>
                          <a:srgbClr val="000000"/>
                        </a:solidFill>
                        <a:latin typeface="Neue Haas Grotesk Text Pro"/>
                        <a:cs typeface="Times New Roman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Font typeface="Arial"/>
                        <a:buNone/>
                      </a:pPr>
                      <a:r>
                        <a:rPr lang="hu-HU" sz="1600" noProof="0">
                          <a:latin typeface="Neue Haas Grotesk Text Pro"/>
                          <a:cs typeface="Times New Roman"/>
                        </a:rPr>
                        <a:t>React</a:t>
                      </a:r>
                      <a:endParaRPr lang="hu-HU" sz="1600" noProof="0">
                        <a:latin typeface="Neue Haas Grotesk Text Pro"/>
                      </a:endParaRPr>
                    </a:p>
                    <a:p>
                      <a:pPr marL="0" lvl="0" indent="0" algn="l">
                        <a:buFont typeface="Arial"/>
                        <a:buNone/>
                      </a:pPr>
                      <a:r>
                        <a:rPr lang="hu-HU" sz="1600" noProof="0">
                          <a:latin typeface="Neue Haas Grotesk Text Pro"/>
                          <a:cs typeface="Times New Roman"/>
                        </a:rPr>
                        <a:t>TypeScript</a:t>
                      </a:r>
                      <a:endParaRPr lang="hu-HU" sz="1600" noProof="0">
                        <a:latin typeface="Neue Haas Grotesk Text Pro"/>
                      </a:endParaRPr>
                    </a:p>
                    <a:p>
                      <a:pPr marL="0" lvl="0" indent="0" algn="l">
                        <a:buFont typeface="Arial"/>
                        <a:buNone/>
                      </a:pPr>
                      <a:r>
                        <a:rPr lang="hu-HU" sz="1600" noProof="0" err="1">
                          <a:latin typeface="Neue Haas Grotesk Text Pro"/>
                          <a:cs typeface="Times New Roman"/>
                        </a:rPr>
                        <a:t>Mantine</a:t>
                      </a:r>
                      <a:r>
                        <a:rPr lang="hu-HU" sz="1600" noProof="0">
                          <a:latin typeface="Neue Haas Grotesk Text Pro"/>
                          <a:cs typeface="Times New Roman"/>
                        </a:rPr>
                        <a:t> UI</a:t>
                      </a:r>
                      <a:endParaRPr lang="hu-HU" sz="1600" noProof="0">
                        <a:latin typeface="Neue Haas Grotesk Text Pro"/>
                      </a:endParaRPr>
                    </a:p>
                    <a:p>
                      <a:pPr marL="0" lvl="0" indent="0" algn="l">
                        <a:buFont typeface="Arial"/>
                        <a:buNone/>
                      </a:pPr>
                      <a:r>
                        <a:rPr lang="hu-HU" sz="1600" noProof="0">
                          <a:latin typeface="Neue Haas Grotesk Text Pro"/>
                          <a:cs typeface="Times New Roman"/>
                        </a:rPr>
                        <a:t>Tanstack Query</a:t>
                      </a:r>
                      <a:endParaRPr lang="hu-HU" sz="1600" noProof="0">
                        <a:latin typeface="Neue Haas Grotesk Text Pro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285455"/>
                  </a:ext>
                </a:extLst>
              </a:tr>
              <a:tr h="860902">
                <a:tc>
                  <a:txBody>
                    <a:bodyPr/>
                    <a:lstStyle/>
                    <a:p>
                      <a:pPr algn="l"/>
                      <a:r>
                        <a:rPr lang="hu-HU" noProof="0"/>
                        <a:t>Császár Zoltán</a:t>
                      </a:r>
                    </a:p>
                  </a:txBody>
                  <a:tcPr>
                    <a:solidFill>
                      <a:schemeClr val="bg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800" b="0" i="0" u="none" strike="noStrike" noProof="0">
                          <a:solidFill>
                            <a:srgbClr val="09090C"/>
                          </a:solidFill>
                          <a:latin typeface="Neue Haas Grotesk Text Pro"/>
                        </a:rPr>
                        <a:t>Császár Zoltán</a:t>
                      </a:r>
                    </a:p>
                    <a:p>
                      <a:pPr lvl="0" algn="l">
                        <a:buNone/>
                      </a:pPr>
                      <a:r>
                        <a:rPr lang="hu-HU" sz="1800" b="0" i="0" u="none" strike="noStrike" noProof="0">
                          <a:solidFill>
                            <a:srgbClr val="09090C"/>
                          </a:solidFill>
                          <a:latin typeface="Neue Haas Grotesk Text Pro"/>
                        </a:rPr>
                        <a:t>Tircsi Kolos</a:t>
                      </a:r>
                    </a:p>
                    <a:p>
                      <a:pPr lvl="0" algn="l">
                        <a:buNone/>
                      </a:pPr>
                      <a:r>
                        <a:rPr lang="hu-HU" sz="1800" b="0" i="0" u="none" strike="noStrike" noProof="0">
                          <a:solidFill>
                            <a:srgbClr val="09090C"/>
                          </a:solidFill>
                          <a:latin typeface="Neue Haas Grotesk Text Pro"/>
                        </a:rPr>
                        <a:t>Massman Noah James</a:t>
                      </a:r>
                      <a:endParaRPr lang="hu-HU" b="0" noProof="0"/>
                    </a:p>
                  </a:txBody>
                  <a:tcPr>
                    <a:solidFill>
                      <a:schemeClr val="bg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800" b="0" i="0" u="none" strike="noStrike" noProof="0">
                          <a:solidFill>
                            <a:srgbClr val="09090C"/>
                          </a:solidFill>
                          <a:latin typeface="Neue Haas Grotesk Text Pro"/>
                        </a:rPr>
                        <a:t>Császár Zoltán</a:t>
                      </a:r>
                    </a:p>
                    <a:p>
                      <a:pPr lvl="0" algn="l">
                        <a:buNone/>
                      </a:pPr>
                      <a:r>
                        <a:rPr lang="hu-HU" noProof="0"/>
                        <a:t>Tircsi Kolos</a:t>
                      </a:r>
                    </a:p>
                    <a:p>
                      <a:pPr lvl="0" algn="l">
                        <a:buNone/>
                      </a:pPr>
                      <a:r>
                        <a:rPr lang="hu-HU" noProof="0"/>
                        <a:t>Massman Noah James</a:t>
                      </a:r>
                    </a:p>
                  </a:txBody>
                  <a:tcPr>
                    <a:solidFill>
                      <a:schemeClr val="bg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562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5220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788F2-3E1B-B8BA-6358-779AC94D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5F056-7788-2DCE-A573-05EBD7998D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9600" err="1">
                <a:solidFill>
                  <a:srgbClr val="FFFFFF"/>
                </a:solidFill>
                <a:ea typeface="+mj-lt"/>
                <a:cs typeface="+mj-lt"/>
              </a:rPr>
              <a:t>Funkci</a:t>
            </a:r>
            <a:r>
              <a:rPr lang="hu-HU" sz="9600">
                <a:solidFill>
                  <a:srgbClr val="FFFFFF"/>
                </a:solidFill>
                <a:ea typeface="+mj-lt"/>
                <a:cs typeface="+mj-lt"/>
              </a:rPr>
              <a:t>ók</a:t>
            </a:r>
            <a:r>
              <a:rPr lang="en-GB" sz="9600">
                <a:solidFill>
                  <a:srgbClr val="FFFFFF"/>
                </a:solidFill>
                <a:ea typeface="+mj-lt"/>
                <a:cs typeface="+mj-lt"/>
              </a:rPr>
              <a:t> 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934EB-1B15-2FB9-143D-20F45A42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37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2FECE-93E7-A231-6AB3-5D4409C3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5D1624-00A5-06C0-323E-1526755CA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98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14FC1-85C9-3355-C3DF-4093C7FE6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188AF9-05C9-7CB5-DBCD-6CAFA990B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97" y="0"/>
            <a:ext cx="2057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60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29CB4-1ADB-E02E-BF8A-7E7DDF17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FEE1ED-96FB-212B-09A4-D7A35D919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E8BAF2A-965F-3E37-94D5-BA3038E44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97B24B-47E4-CF0C-91E0-F6B636A82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610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2891C-E9EA-070B-996F-596297A7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01DD0-D4DE-1C75-7371-6A53C0D7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4261EE-BB75-4B34-B123-5D56ABB20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85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0DDC9-E45F-394D-9BB9-7EC832ABE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123FA-B62B-8CF9-358B-11F29F54C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3F11B5-3250-15AD-2C57-E88ED2701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421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DE115-94FC-4840-3F70-900872A49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887481-5D0E-3B42-E2B0-66E71F109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260" y="0"/>
            <a:ext cx="2617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32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08CAB-3709-9C40-878E-C56FAE731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92E13-52DF-3A8F-51AB-4A19A6163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9600">
                <a:solidFill>
                  <a:srgbClr val="FFFFFF"/>
                </a:solidFill>
                <a:ea typeface="+mj-lt"/>
                <a:cs typeface="+mj-lt"/>
              </a:rPr>
              <a:t>Adminisztrációs oldalak</a:t>
            </a:r>
            <a:r>
              <a:rPr lang="en-GB" sz="9600">
                <a:solidFill>
                  <a:srgbClr val="FFFFFF"/>
                </a:solidFill>
                <a:ea typeface="+mj-lt"/>
                <a:cs typeface="+mj-lt"/>
              </a:rPr>
              <a:t> 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B119C-4C12-2002-1CE3-12D456AE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36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4EC11-8B2D-0FAD-5B50-0A418C16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EB5C4-5FB6-CCB9-353A-4E8CD341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B08931-98D7-7B41-5051-527745E22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880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3CF20-A546-960D-9762-37C7C3B2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17BD1F-EC3B-C94C-6F25-D65FE8C9F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462" y="0"/>
            <a:ext cx="4225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560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D7F1-E0CD-7761-E40C-DBE96887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DF3AEB-23ED-D26E-49F5-3901DC36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0366DB-A037-B0CF-07E8-21531DE97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47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55D9A-A315-567D-6282-F95E9C6B1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7E70DA-7865-14A0-A03C-C2B7DAA63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462" y="0"/>
            <a:ext cx="4225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85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AEAAF-12EA-8A08-A001-D5D962C9A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0564D-DD10-E46A-F33E-F6E38C806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032B9F-8052-AB5E-DC28-A461BE9EC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619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A8F1-2DFB-B0F0-4A2F-631E91BDA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BE62C-5929-82B2-34CB-68EEE542D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093722-09DB-88EF-C8EB-1D5657AEB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0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1E928-8C6A-C322-6ED2-F2832224A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0E6B-95EF-94F6-26CA-24C1F7B1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988D9-E087-9F10-CBCC-6B528DB3B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648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840E-3865-A715-98CD-B71EB56FD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C652C-DF79-E8B6-1FE3-2C4DF3F25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E3D23F-6513-09B4-E250-30992DD70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85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9F723-258C-C3D2-4A87-CD22C2547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8A350-1193-EE78-0FED-C953BC539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1EC3C7-79FD-B4E5-5358-405B068F4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0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0877B-28F3-86C1-C151-FF0208343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0AE3E-8923-E4B0-4B31-320BE69F7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363DAE-A419-3F88-5EE7-68E9EDED6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006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9EB46-17DC-7A36-3B72-6DFDA3A96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5147E5-7957-5B27-4079-FDBD8B09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054609-EA76-BB6D-149B-2FA36C968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907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51E05-46DD-7B53-8FAA-CD0253CDE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F352A-6501-7038-AE1C-8A687341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AF3D1-F64B-EB3C-CB7E-00CA0065E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38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0BD23-DCF2-7253-F061-DFD41C9D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6B7B1-7C8F-1765-BC5B-A62013680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FD42EE-9BBA-1A79-F4D5-72CC19DD2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9677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6E8D0-0D0F-822D-EF2D-1F512B59F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200975-6C3F-B509-09FF-D8EB0278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4764CB-70FD-C5E1-341F-194821640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4223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593DD-AED0-C1D4-FCAA-11B8ECEDD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C8785-BE71-74F2-C09C-395B5E195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F68B9-3725-108D-7810-28F787015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91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094-69F7-80CF-426B-A03D2B889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EDEF8-5698-6465-A038-DD76CFACF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D77246-5D17-986B-FEFC-43CB34A0A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878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A2DEF-A506-4360-1EE5-5DC5F94AB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712E8-FDE5-D014-B5ED-1E67AB6F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7C05B8-CF0E-11FB-A974-2CC6F4F35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58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AD4F2-8016-EF85-075D-A759A6FC7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2AFCC-80AA-BAE6-D5CD-D310C146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7B385B-77DA-EAC3-3D84-B9683A14F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2364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1CD66-8880-17E8-C461-318F4AEDE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206DF-4435-D56B-CB67-5C7EDAF7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92AD5E-3B58-5D43-1C2C-5781A5BCA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982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9E7BA-5650-9487-8B77-8CE2C6E13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E234-632F-F06B-8F8C-29CF5CFC5A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9600">
                <a:solidFill>
                  <a:srgbClr val="FFFFFF"/>
                </a:solidFill>
                <a:ea typeface="+mj-lt"/>
                <a:cs typeface="+mj-lt"/>
              </a:rPr>
              <a:t>Rendelés folyamata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CA8904-2E3A-9080-0993-6524DDD9E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412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F9C20-43B9-A2F0-AED0-44E00EA7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504667-0BB6-14D2-E7FC-FB7B8A91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EBA2CF-A764-B03C-192F-74914DE09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90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20936-83DC-68EA-3F93-29088273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6052DF-8E36-E093-AEFB-6AB985CC2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260" y="0"/>
            <a:ext cx="2617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949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195F5-D5B1-F5BA-F238-A38E58F7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ECD05-056C-071C-5BD1-F02F9CB40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09025F-083F-F8A8-8A36-978255AE1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427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BB620-C14C-4C85-9611-79610218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CEF27-F944-F9E1-B6BF-80E44CEE5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377FF4-F823-C618-32DB-F619D294F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796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DDB95-0312-2281-AB46-C4274F724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5EAB7-EE6E-BE37-ED96-0B7A3866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DBF53F-C630-0310-B918-A41CB153F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630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7474F-6A35-3D0C-9951-7A46ABA90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D5F06-804B-9947-429B-8A2FD0E0E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733887-F4D8-4D45-266B-BF845D1DE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5930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80EC-35DC-B8A9-2503-8EB788CA1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291AC-CC9E-EAE1-5E88-65841DA343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9600">
                <a:solidFill>
                  <a:srgbClr val="FFFFFF"/>
                </a:solidFill>
                <a:ea typeface="+mj-lt"/>
                <a:cs typeface="+mj-lt"/>
              </a:rPr>
              <a:t>Egyéb oldalak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63B58-BDF5-0794-8246-3A3219A6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258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AB77B-866E-32F6-1A73-E7DF41CAC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61666-8F8D-B6EC-9508-BB0EEEA1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480CBA-62E1-EA66-4F8B-048C0A4ED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146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84DB-7E78-9EE9-AC7E-E36E51355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F7A3D-F9AA-A179-4104-49B0730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F9B3D6-5D2F-45BE-1B2E-8128A7357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414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9C0B7-5FB6-8E05-5CF8-1B4ACA827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D4EDD-00B9-51C0-C844-744C12B4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FE6436-C848-F30F-D136-082330268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6291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60B3F1-72D4-D94A-FE27-F2A95ECC5B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44487" y="2001772"/>
            <a:ext cx="8506567" cy="2855388"/>
          </a:xfrm>
        </p:spPr>
        <p:txBody>
          <a:bodyPr/>
          <a:lstStyle/>
          <a:p>
            <a:pPr marL="164465" indent="-164465" algn="ctr"/>
            <a:r>
              <a:rPr lang="en-US" noProof="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19315123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A3B43-C4C6-9AA4-F9F9-859F60E5E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1C7D7-2BA3-30EF-CBE5-4A8CE4F44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9600">
                <a:solidFill>
                  <a:srgbClr val="FFFFFF"/>
                </a:solidFill>
                <a:ea typeface="+mj-lt"/>
                <a:cs typeface="+mj-lt"/>
              </a:rPr>
              <a:t>Fejlődés, Tanulságok és Q&amp;A 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6481FE-6805-7FC7-A605-27A5258A5B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944ADB-53ED-745A-5815-11E53FA6C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534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3F4E-5E3C-7287-E218-6D15DE5D9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662" y="3426486"/>
            <a:ext cx="10332999" cy="98565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hu-HU" sz="9600"/>
              <a:t> 3 Nagy Kihívás</a:t>
            </a:r>
            <a:endParaRPr lang="hu-HU" sz="9600" noProof="0">
              <a:solidFill>
                <a:srgbClr val="000000"/>
              </a:solidFill>
            </a:endParaRPr>
          </a:p>
          <a:p>
            <a:endParaRPr lang="hu-HU" noProof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0A5A8-44EC-C804-BE73-B25891A23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3320" y="2458104"/>
            <a:ext cx="5385079" cy="349312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hu-HU" sz="1800" dirty="0"/>
          </a:p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915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8A02-3E48-4ECD-A089-7364CF733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65" y="1481429"/>
            <a:ext cx="5385079" cy="985658"/>
          </a:xfrm>
        </p:spPr>
        <p:txBody>
          <a:bodyPr/>
          <a:lstStyle/>
          <a:p>
            <a:r>
              <a:rPr lang="hu-HU" sz="1800"/>
              <a:t>Inkonzisztens kódformázás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27E8E-06B6-E4FF-D057-A7F71B46A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B613F-73A8-D246-739E-54BC6B893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F22FB5E-AFFC-A909-A26C-5CE2D92FE4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0089" y="9177"/>
            <a:ext cx="8839564" cy="684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7055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9A29B-CD78-31DA-76B9-EAAB28910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891" y="1518600"/>
            <a:ext cx="3442909" cy="985658"/>
          </a:xfrm>
        </p:spPr>
        <p:txBody>
          <a:bodyPr>
            <a:normAutofit/>
          </a:bodyPr>
          <a:lstStyle/>
          <a:p>
            <a:r>
              <a:rPr lang="hu-HU" sz="2000"/>
              <a:t>Jogosultságkezelés implementációja</a:t>
            </a:r>
            <a:endParaRPr lang="en-US" sz="2000"/>
          </a:p>
        </p:txBody>
      </p:sp>
      <p:pic>
        <p:nvPicPr>
          <p:cNvPr id="7" name="Content Placeholder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907395C-3DFB-9DCF-CF29-C947FB618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120" y="4905470"/>
            <a:ext cx="12196616" cy="1952443"/>
          </a:xfrm>
          <a:prstGeom prst="rect">
            <a:avLst/>
          </a:prstGeom>
        </p:spPr>
      </p:pic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3BF655D-5295-2FE1-A959-05FC150B1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564" y="479620"/>
            <a:ext cx="8910288" cy="415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972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FF9C4-ECC0-3BC0-8333-395D825BC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301" y="731034"/>
            <a:ext cx="5385079" cy="985658"/>
          </a:xfrm>
        </p:spPr>
        <p:txBody>
          <a:bodyPr/>
          <a:lstStyle/>
          <a:p>
            <a:r>
              <a:rPr lang="hu-HU" sz="2500"/>
              <a:t>Csapatmunka, kommunikáció</a:t>
            </a:r>
            <a:endParaRPr lang="en-US" sz="2500">
              <a:solidFill>
                <a:srgbClr val="000000"/>
              </a:solidFill>
            </a:endParaRPr>
          </a:p>
          <a:p>
            <a:endParaRPr lang="en-US" dirty="0"/>
          </a:p>
        </p:txBody>
      </p:sp>
      <p:pic>
        <p:nvPicPr>
          <p:cNvPr id="6" name="Content Placeholder 5" descr="A blue and black logo&#10;&#10;AI-generated content may be incorrect.">
            <a:extLst>
              <a:ext uri="{FF2B5EF4-FFF2-40B4-BE49-F238E27FC236}">
                <a16:creationId xmlns:a16="http://schemas.microsoft.com/office/drawing/2014/main" id="{85C3ED79-90D9-E4A2-3D12-058B37584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649" y="338866"/>
            <a:ext cx="7656701" cy="430869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BA23706-5176-B6C6-8C02-B56CFEE91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320" y="3429000"/>
            <a:ext cx="7000959" cy="294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99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4CE7-8C55-963F-A31D-8AD70563C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6295C-E330-1A8C-1805-13318C0E8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9D225-DB78-3BCC-983E-5D6244E77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96D4A-2102-BD8A-3FB0-F155E9915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7" name="Content Placeholder 6" descr="A screenshot of a group of people&#10;&#10;AI-generated content may be incorrect.">
            <a:extLst>
              <a:ext uri="{FF2B5EF4-FFF2-40B4-BE49-F238E27FC236}">
                <a16:creationId xmlns:a16="http://schemas.microsoft.com/office/drawing/2014/main" id="{6503728A-1B1F-AC57-791D-11E52F2E0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036" r="22134" b="-371"/>
          <a:stretch>
            <a:fillRect/>
          </a:stretch>
        </p:blipFill>
        <p:spPr>
          <a:xfrm>
            <a:off x="-2333" y="875"/>
            <a:ext cx="12195280" cy="699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17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1E33D-89EF-9F3A-568C-D6D79C57E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/>
              <a:t>Jövőbeli fejlődési lehetőségek</a:t>
            </a:r>
            <a:endParaRPr lang="hu-HU" noProof="0">
              <a:solidFill>
                <a:srgbClr val="FFFFFF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8132E-5E07-6958-D2DB-0131A46FC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hu-HU" noProof="0">
                <a:solidFill>
                  <a:srgbClr val="FFFFFF"/>
                </a:solidFill>
                <a:latin typeface="Neue Haas Grotesk Text Pro"/>
                <a:cs typeface="Times New Roman"/>
              </a:rPr>
              <a:t>Hűségprogram</a:t>
            </a:r>
          </a:p>
          <a:p>
            <a:pPr algn="just"/>
            <a:r>
              <a:rPr lang="hu-HU" noProof="0">
                <a:solidFill>
                  <a:srgbClr val="FFFFFF"/>
                </a:solidFill>
                <a:ea typeface="+mn-lt"/>
                <a:cs typeface="+mn-lt"/>
              </a:rPr>
              <a:t>Készletgazdálkodás</a:t>
            </a:r>
          </a:p>
          <a:p>
            <a:pPr algn="just"/>
            <a:r>
              <a:rPr lang="hu-HU" noProof="0">
                <a:solidFill>
                  <a:srgbClr val="FFFFFF"/>
                </a:solidFill>
                <a:ea typeface="+mn-lt"/>
                <a:cs typeface="+mn-lt"/>
              </a:rPr>
              <a:t>Külső házhozszállítási platformok integrációja</a:t>
            </a:r>
            <a:endParaRPr lang="en-US" noProof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r>
              <a:rPr lang="hu-HU">
                <a:solidFill>
                  <a:srgbClr val="FFFFFF"/>
                </a:solidFill>
                <a:latin typeface="Neue Haas Grotesk Text Pro"/>
                <a:cs typeface="Times New Roman"/>
              </a:rPr>
              <a:t>Témák</a:t>
            </a:r>
          </a:p>
          <a:p>
            <a:pPr algn="just"/>
            <a:r>
              <a:rPr lang="hu-HU">
                <a:solidFill>
                  <a:srgbClr val="FFFFFF"/>
                </a:solidFill>
                <a:latin typeface="Neue Haas Grotesk Text Pro"/>
                <a:cs typeface="Times New Roman"/>
              </a:rPr>
              <a:t>Részletes utasítások a dolgozóknak</a:t>
            </a:r>
          </a:p>
          <a:p>
            <a:pPr algn="just"/>
            <a:endParaRPr lang="hu-HU" sz="1200" noProof="0">
              <a:solidFill>
                <a:srgbClr val="FFFFFF"/>
              </a:solidFill>
              <a:latin typeface="Neue Haas Grotesk Text Pr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6342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CAABB-D077-3777-A156-7036E87B6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514" y="1196274"/>
            <a:ext cx="10508603" cy="1734866"/>
          </a:xfrm>
        </p:spPr>
        <p:txBody>
          <a:bodyPr/>
          <a:lstStyle/>
          <a:p>
            <a:r>
              <a:rPr lang="hu-HU" noProof="0">
                <a:ea typeface="+mj-lt"/>
                <a:cs typeface="+mj-lt"/>
              </a:rPr>
              <a:t>Összegzés, kérdések</a:t>
            </a:r>
          </a:p>
        </p:txBody>
      </p:sp>
    </p:spTree>
    <p:extLst>
      <p:ext uri="{BB962C8B-B14F-4D97-AF65-F5344CB8AC3E}">
        <p14:creationId xmlns:p14="http://schemas.microsoft.com/office/powerpoint/2010/main" val="631911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7A95-9645-30F3-5A7F-F2D770F2E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8400" y="1820486"/>
            <a:ext cx="6117459" cy="2762187"/>
          </a:xfrm>
        </p:spPr>
        <p:txBody>
          <a:bodyPr/>
          <a:lstStyle/>
          <a:p>
            <a:r>
              <a:rPr lang="hu-HU" noProof="0"/>
              <a:t>Köszönjük a figyelmet</a:t>
            </a:r>
          </a:p>
        </p:txBody>
      </p:sp>
    </p:spTree>
    <p:extLst>
      <p:ext uri="{BB962C8B-B14F-4D97-AF65-F5344CB8AC3E}">
        <p14:creationId xmlns:p14="http://schemas.microsoft.com/office/powerpoint/2010/main" val="2626574364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_win32_Liz_v4" id="{15E0A01B-C0A0-4E33-97EB-A34D3C451DCF}" vid="{FB8E1E66-9252-4554-A1C4-ACC82554D8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  <SharedWithUsers xmlns="16c05727-aa75-4e4a-9b5f-8a80a1165891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0BF7B2-4A2B-4CA7-8150-68B962AD6E62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27E2546-C5EB-442C-BCA8-1B0D17D614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53938E-C8DA-4DDE-A937-0EA87B476A88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263</Words>
  <Application>Microsoft Office PowerPoint</Application>
  <PresentationFormat>Widescreen</PresentationFormat>
  <Paragraphs>100</Paragraphs>
  <Slides>57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Arial</vt:lpstr>
      <vt:lpstr>Neue Haas Grotesk Text Pro</vt:lpstr>
      <vt:lpstr>Times New Roman</vt:lpstr>
      <vt:lpstr>Film burn</vt:lpstr>
      <vt:lpstr>FastFuel</vt:lpstr>
      <vt:lpstr>Bevezetés és Üzleti Logika</vt:lpstr>
      <vt:lpstr>Üzleti és felhasználói folyamat </vt:lpstr>
      <vt:lpstr>PowerPoint Presentation</vt:lpstr>
      <vt:lpstr>A Probléma</vt:lpstr>
      <vt:lpstr>Ki a célközönség? </vt:lpstr>
      <vt:lpstr>Miért a FastFuel?</vt:lpstr>
      <vt:lpstr>Technológiák </vt:lpstr>
      <vt:lpstr>PowerPoint Presentation</vt:lpstr>
      <vt:lpstr>Funkciók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Adminisztrációs oldalak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Rendelés folyamata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Egyéb oldalak</vt:lpstr>
      <vt:lpstr>PowerPoint Presentation</vt:lpstr>
      <vt:lpstr>PowerPoint Presentation</vt:lpstr>
      <vt:lpstr>PowerPoint Presentation</vt:lpstr>
      <vt:lpstr>PowerPoint Presentation</vt:lpstr>
      <vt:lpstr>Fejlődés, Tanulságok és Q&amp;A </vt:lpstr>
      <vt:lpstr> 3 Nagy Kihívás </vt:lpstr>
      <vt:lpstr>Inkonzisztens kódformázás</vt:lpstr>
      <vt:lpstr>Jogosultságkezelés implementációja</vt:lpstr>
      <vt:lpstr>Csapatmunka, kommunikáció </vt:lpstr>
      <vt:lpstr>PowerPoint Presentation</vt:lpstr>
      <vt:lpstr>Jövőbeli fejlődési lehetőségek</vt:lpstr>
      <vt:lpstr>Összegzés, kérdések</vt:lpstr>
      <vt:lpstr>Köszönjük a figyelmet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Császár Zoltán</dc:creator>
  <cp:lastModifiedBy>Zoltán Császár</cp:lastModifiedBy>
  <cp:revision>86</cp:revision>
  <dcterms:created xsi:type="dcterms:W3CDTF">2026-04-18T10:56:54Z</dcterms:created>
  <dcterms:modified xsi:type="dcterms:W3CDTF">2026-04-29T15:54:30Z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Order">
    <vt:r8>2365000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